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1233" autoAdjust="0"/>
    <p:restoredTop sz="94660"/>
  </p:normalViewPr>
  <p:slideViewPr>
    <p:cSldViewPr>
      <p:cViewPr varScale="1">
        <p:scale>
          <a:sx n="108" d="100"/>
          <a:sy n="108" d="100"/>
        </p:scale>
        <p:origin x="-19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9BE7-D180-44EC-A7B9-36E835B238DA}" type="datetimeFigureOut">
              <a:rPr lang="ko-KR" altLang="en-US" smtClean="0"/>
              <a:pPr/>
              <a:t>2025-08-12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592A-38A4-4F8C-A443-0CD3828F45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9BE7-D180-44EC-A7B9-36E835B238DA}" type="datetimeFigureOut">
              <a:rPr lang="ko-KR" altLang="en-US" smtClean="0"/>
              <a:pPr/>
              <a:t>2025-08-12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592A-38A4-4F8C-A443-0CD3828F45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9BE7-D180-44EC-A7B9-36E835B238DA}" type="datetimeFigureOut">
              <a:rPr lang="ko-KR" altLang="en-US" smtClean="0"/>
              <a:pPr/>
              <a:t>2025-08-12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592A-38A4-4F8C-A443-0CD3828F45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9BE7-D180-44EC-A7B9-36E835B238DA}" type="datetimeFigureOut">
              <a:rPr lang="ko-KR" altLang="en-US" smtClean="0"/>
              <a:pPr/>
              <a:t>2025-08-12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592A-38A4-4F8C-A443-0CD3828F45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9BE7-D180-44EC-A7B9-36E835B238DA}" type="datetimeFigureOut">
              <a:rPr lang="ko-KR" altLang="en-US" smtClean="0"/>
              <a:pPr/>
              <a:t>2025-08-12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592A-38A4-4F8C-A443-0CD3828F45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9BE7-D180-44EC-A7B9-36E835B238DA}" type="datetimeFigureOut">
              <a:rPr lang="ko-KR" altLang="en-US" smtClean="0"/>
              <a:pPr/>
              <a:t>2025-08-12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592A-38A4-4F8C-A443-0CD3828F45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9BE7-D180-44EC-A7B9-36E835B238DA}" type="datetimeFigureOut">
              <a:rPr lang="ko-KR" altLang="en-US" smtClean="0"/>
              <a:pPr/>
              <a:t>2025-08-12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592A-38A4-4F8C-A443-0CD3828F45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9BE7-D180-44EC-A7B9-36E835B238DA}" type="datetimeFigureOut">
              <a:rPr lang="ko-KR" altLang="en-US" smtClean="0"/>
              <a:pPr/>
              <a:t>2025-08-12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592A-38A4-4F8C-A443-0CD3828F45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9BE7-D180-44EC-A7B9-36E835B238DA}" type="datetimeFigureOut">
              <a:rPr lang="ko-KR" altLang="en-US" smtClean="0"/>
              <a:pPr/>
              <a:t>2025-08-12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592A-38A4-4F8C-A443-0CD3828F45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9BE7-D180-44EC-A7B9-36E835B238DA}" type="datetimeFigureOut">
              <a:rPr lang="ko-KR" altLang="en-US" smtClean="0"/>
              <a:pPr/>
              <a:t>2025-08-12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592A-38A4-4F8C-A443-0CD3828F45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F9BE7-D180-44EC-A7B9-36E835B238DA}" type="datetimeFigureOut">
              <a:rPr lang="ko-KR" altLang="en-US" smtClean="0"/>
              <a:pPr/>
              <a:t>2025-08-12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7592A-38A4-4F8C-A443-0CD3828F45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F9BE7-D180-44EC-A7B9-36E835B238DA}" type="datetimeFigureOut">
              <a:rPr lang="ko-KR" altLang="en-US" smtClean="0"/>
              <a:pPr/>
              <a:t>2025-08-12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7592A-38A4-4F8C-A443-0CD3828F45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6165470" cy="60324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*</a:t>
            </a:r>
            <a:r>
              <a:rPr lang="ko-KR" altLang="en-US" b="1" dirty="0" err="1" smtClean="0"/>
              <a:t>제어문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 Control Statement )</a:t>
            </a:r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프로그램의 순차적인 흐름을 변경하는 문장들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err="1" smtClean="0"/>
              <a:t>조건문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반복문</a:t>
            </a:r>
            <a:r>
              <a:rPr lang="en-US" altLang="ko-KR" sz="1600" dirty="0" smtClean="0"/>
              <a:t>, break, continue, return</a:t>
            </a:r>
          </a:p>
          <a:p>
            <a:endParaRPr lang="en-US" altLang="ko-KR" sz="1600" dirty="0"/>
          </a:p>
          <a:p>
            <a:r>
              <a:rPr lang="en-US" altLang="ko-KR" sz="1600" b="1" dirty="0" smtClean="0"/>
              <a:t>*</a:t>
            </a:r>
            <a:r>
              <a:rPr lang="ko-KR" altLang="en-US" sz="1600" b="1" dirty="0" err="1" smtClean="0"/>
              <a:t>조건문</a:t>
            </a:r>
            <a:r>
              <a:rPr lang="ko-KR" altLang="en-US" sz="1600" b="1" dirty="0" smtClean="0"/>
              <a:t> </a:t>
            </a:r>
            <a:r>
              <a:rPr lang="en-US" altLang="ko-KR" sz="1600" b="1" dirty="0" smtClean="0"/>
              <a:t>( Conditional Statement 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조건에 맞는 경우에만 코드를 </a:t>
            </a:r>
            <a:r>
              <a:rPr lang="ko-KR" altLang="en-US" sz="1600" dirty="0" smtClean="0"/>
              <a:t>실행해야 할 </a:t>
            </a:r>
            <a:r>
              <a:rPr lang="ko-KR" altLang="en-US" sz="1600" dirty="0" smtClean="0"/>
              <a:t>때 사용하는 문장들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if, else, </a:t>
            </a:r>
            <a:r>
              <a:rPr lang="en-US" altLang="ko-KR" sz="1600" dirty="0" err="1" smtClean="0"/>
              <a:t>switch~case</a:t>
            </a:r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r>
              <a:rPr lang="en-US" altLang="ko-KR" sz="1600" b="1" dirty="0" smtClean="0"/>
              <a:t>*if)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-</a:t>
            </a:r>
            <a:r>
              <a:rPr lang="ko-KR" altLang="en-US" sz="1600" dirty="0" smtClean="0"/>
              <a:t>단일 </a:t>
            </a:r>
            <a:r>
              <a:rPr lang="en-US" altLang="ko-KR" sz="1600" dirty="0" smtClean="0"/>
              <a:t>if, </a:t>
            </a:r>
            <a:r>
              <a:rPr lang="en-US" altLang="ko-KR" sz="1600" dirty="0" err="1" smtClean="0"/>
              <a:t>if~else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다중 </a:t>
            </a:r>
            <a:r>
              <a:rPr lang="en-US" altLang="ko-KR" sz="1600" dirty="0" smtClean="0"/>
              <a:t>if( else if ) </a:t>
            </a:r>
            <a:r>
              <a:rPr lang="ko-KR" altLang="en-US" sz="1600" dirty="0" smtClean="0"/>
              <a:t>세가지 문법을 지원한다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*</a:t>
            </a:r>
            <a:r>
              <a:rPr lang="ko-KR" altLang="en-US" sz="1600" b="1" dirty="0" smtClean="0"/>
              <a:t>단일 </a:t>
            </a:r>
            <a:r>
              <a:rPr lang="en-US" altLang="ko-KR" sz="1600" b="1" dirty="0" smtClean="0"/>
              <a:t>if</a:t>
            </a:r>
            <a:r>
              <a:rPr lang="en-US" altLang="ko-KR" sz="1600" dirty="0" smtClean="0"/>
              <a:t> : </a:t>
            </a:r>
            <a:r>
              <a:rPr lang="ko-KR" altLang="en-US" sz="1600" dirty="0" smtClean="0"/>
              <a:t>조건에 맞는 경우에만 코드를 실행해야 할 때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 </a:t>
            </a:r>
            <a:r>
              <a:rPr lang="ko-KR" altLang="en-US" sz="1600" dirty="0" smtClean="0"/>
              <a:t>문법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if( </a:t>
            </a:r>
            <a:r>
              <a:rPr lang="ko-KR" altLang="en-US" sz="1600" dirty="0" err="1" smtClean="0"/>
              <a:t>조건식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)</a:t>
            </a:r>
            <a:r>
              <a:rPr lang="en-US" altLang="ko-KR" sz="1600" b="1" dirty="0" smtClean="0"/>
              <a:t>{</a:t>
            </a:r>
          </a:p>
          <a:p>
            <a:r>
              <a:rPr lang="en-US" altLang="ko-KR" sz="1600" dirty="0" smtClean="0"/>
              <a:t>      </a:t>
            </a:r>
            <a:r>
              <a:rPr lang="ko-KR" altLang="en-US" sz="1600" dirty="0" smtClean="0"/>
              <a:t>조건에 맞을 때 수행될 문장들</a:t>
            </a:r>
            <a:r>
              <a:rPr lang="en-US" altLang="ko-KR" sz="1600" dirty="0" smtClean="0"/>
              <a:t>….</a:t>
            </a:r>
            <a:endParaRPr lang="en-US" altLang="ko-KR" sz="1600" dirty="0"/>
          </a:p>
          <a:p>
            <a:r>
              <a:rPr lang="en-US" altLang="ko-KR" sz="1600" dirty="0" smtClean="0"/>
              <a:t>    </a:t>
            </a:r>
            <a:r>
              <a:rPr lang="en-US" altLang="ko-KR" sz="1600" b="1" dirty="0" smtClean="0"/>
              <a:t>}</a:t>
            </a:r>
          </a:p>
          <a:p>
            <a:endParaRPr lang="en-US" altLang="ko-KR" sz="1600" dirty="0"/>
          </a:p>
          <a:p>
            <a:endParaRPr lang="en-US" altLang="ko-KR" sz="16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72132" y="4143380"/>
            <a:ext cx="1285884" cy="586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직선 연결선 6"/>
          <p:cNvCxnSpPr/>
          <p:nvPr/>
        </p:nvCxnSpPr>
        <p:spPr>
          <a:xfrm>
            <a:off x="428596" y="2000240"/>
            <a:ext cx="57150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 rot="5400000" flipH="1" flipV="1">
            <a:off x="607191" y="2035959"/>
            <a:ext cx="214314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4282" y="2285992"/>
            <a:ext cx="14702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자바에서 존재하는</a:t>
            </a:r>
            <a:endParaRPr lang="en-US" altLang="ko-KR" sz="1200" dirty="0" smtClean="0"/>
          </a:p>
          <a:p>
            <a:r>
              <a:rPr lang="ko-KR" altLang="en-US" sz="1200" dirty="0" smtClean="0"/>
              <a:t> </a:t>
            </a:r>
            <a:r>
              <a:rPr lang="ko-KR" altLang="en-US" sz="1200" b="1" dirty="0" smtClean="0"/>
              <a:t>모든 값</a:t>
            </a:r>
            <a:r>
              <a:rPr lang="ko-KR" altLang="en-US" sz="1200" dirty="0" smtClean="0"/>
              <a:t> 을</a:t>
            </a:r>
            <a:endParaRPr lang="en-US" altLang="ko-KR" sz="1200" dirty="0" smtClean="0"/>
          </a:p>
          <a:p>
            <a:r>
              <a:rPr lang="ko-KR" altLang="en-US" sz="1200" dirty="0" smtClean="0"/>
              <a:t>비교할 수 있다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 smtClean="0"/>
              <a:t>(</a:t>
            </a:r>
            <a:r>
              <a:rPr lang="ko-KR" altLang="en-US" sz="1200" dirty="0" smtClean="0"/>
              <a:t>수직적인 비교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cxnSp>
        <p:nvCxnSpPr>
          <p:cNvPr id="13" name="직선 연결선 12"/>
          <p:cNvCxnSpPr/>
          <p:nvPr/>
        </p:nvCxnSpPr>
        <p:spPr>
          <a:xfrm>
            <a:off x="1214414" y="2000240"/>
            <a:ext cx="107157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rot="10800000">
            <a:off x="1928794" y="2071678"/>
            <a:ext cx="214314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000232" y="2214554"/>
            <a:ext cx="21355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자바에서 존재하는</a:t>
            </a:r>
            <a:endParaRPr lang="en-US" altLang="ko-KR" sz="1200" dirty="0" smtClean="0"/>
          </a:p>
          <a:p>
            <a:r>
              <a:rPr lang="ko-KR" altLang="en-US" sz="1200" dirty="0" smtClean="0"/>
              <a:t> </a:t>
            </a:r>
            <a:r>
              <a:rPr lang="ko-KR" altLang="en-US" sz="1200" b="1" dirty="0" smtClean="0"/>
              <a:t>정수 값</a:t>
            </a:r>
            <a:r>
              <a:rPr lang="en-US" altLang="ko-KR" sz="1200" b="1" dirty="0" smtClean="0"/>
              <a:t>,</a:t>
            </a:r>
            <a:r>
              <a:rPr lang="ko-KR" altLang="en-US" sz="1200" b="1" dirty="0" smtClean="0"/>
              <a:t>일치하는 문자열</a:t>
            </a:r>
            <a:r>
              <a:rPr lang="ko-KR" altLang="en-US" sz="1200" dirty="0" smtClean="0"/>
              <a:t> 을</a:t>
            </a:r>
            <a:endParaRPr lang="en-US" altLang="ko-KR" sz="1200" dirty="0" smtClean="0"/>
          </a:p>
          <a:p>
            <a:r>
              <a:rPr lang="ko-KR" altLang="en-US" sz="1200" dirty="0" smtClean="0"/>
              <a:t>비교할 수 있다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수평적인 비교 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cxnSp>
        <p:nvCxnSpPr>
          <p:cNvPr id="19" name="직선 화살표 연결선 18"/>
          <p:cNvCxnSpPr/>
          <p:nvPr/>
        </p:nvCxnSpPr>
        <p:spPr>
          <a:xfrm rot="16200000" flipV="1">
            <a:off x="714349" y="2786059"/>
            <a:ext cx="642942" cy="3571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00100" y="3214686"/>
            <a:ext cx="2230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정수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실수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문자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문자열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객체</a:t>
            </a:r>
            <a:endParaRPr lang="ko-KR" altLang="en-US" sz="1200" dirty="0"/>
          </a:p>
        </p:txBody>
      </p:sp>
      <p:cxnSp>
        <p:nvCxnSpPr>
          <p:cNvPr id="24" name="직선 화살표 연결선 23"/>
          <p:cNvCxnSpPr/>
          <p:nvPr/>
        </p:nvCxnSpPr>
        <p:spPr>
          <a:xfrm rot="10800000">
            <a:off x="1643042" y="5072074"/>
            <a:ext cx="228601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929058" y="4929198"/>
            <a:ext cx="377539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if</a:t>
            </a:r>
            <a:r>
              <a:rPr lang="ko-KR" altLang="en-US" sz="1400" dirty="0" smtClean="0"/>
              <a:t>를 탔을 때 수행할 문장이 한 줄 이라면 </a:t>
            </a:r>
            <a:r>
              <a:rPr lang="en-US" altLang="ko-KR" sz="1400" dirty="0" smtClean="0"/>
              <a:t>{</a:t>
            </a:r>
            <a:r>
              <a:rPr lang="ko-KR" altLang="en-US" sz="1400" dirty="0" smtClean="0"/>
              <a:t>를</a:t>
            </a:r>
            <a:r>
              <a:rPr lang="en-US" altLang="ko-KR" sz="1400" dirty="0" smtClean="0"/>
              <a:t> </a:t>
            </a:r>
          </a:p>
          <a:p>
            <a:r>
              <a:rPr lang="en-US" altLang="ko-KR" sz="1400" dirty="0"/>
              <a:t> </a:t>
            </a:r>
            <a:r>
              <a:rPr lang="ko-KR" altLang="en-US" sz="1400" dirty="0" smtClean="0"/>
              <a:t>생략할 수 있다</a:t>
            </a:r>
            <a:r>
              <a:rPr lang="en-US" altLang="ko-KR" sz="1400" dirty="0" smtClean="0"/>
              <a:t>. =&gt; </a:t>
            </a:r>
            <a:r>
              <a:rPr lang="ko-KR" altLang="en-US" sz="1400" dirty="0" err="1" smtClean="0"/>
              <a:t>가독성</a:t>
            </a:r>
            <a:r>
              <a:rPr lang="ko-KR" altLang="en-US" sz="1400" dirty="0" smtClean="0"/>
              <a:t> 저하</a:t>
            </a:r>
            <a:endParaRPr lang="en-US" altLang="ko-KR" sz="1400" dirty="0" smtClean="0"/>
          </a:p>
          <a:p>
            <a:endParaRPr lang="en-US" altLang="ko-KR" sz="1400" dirty="0"/>
          </a:p>
          <a:p>
            <a:r>
              <a:rPr lang="en-US" altLang="ko-KR" sz="1400" dirty="0" smtClean="0"/>
              <a:t>if(</a:t>
            </a:r>
            <a:r>
              <a:rPr lang="ko-KR" altLang="en-US" sz="1400" dirty="0" err="1" smtClean="0"/>
              <a:t>조건식</a:t>
            </a:r>
            <a:r>
              <a:rPr lang="en-US" altLang="ko-KR" sz="1400" dirty="0" smtClean="0"/>
              <a:t>)</a:t>
            </a:r>
          </a:p>
          <a:p>
            <a:r>
              <a:rPr lang="en-US" altLang="ko-KR" sz="1400" dirty="0"/>
              <a:t> </a:t>
            </a:r>
            <a:r>
              <a:rPr lang="ko-KR" altLang="en-US" sz="1400" dirty="0" smtClean="0"/>
              <a:t>문장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ko-KR" altLang="en-US" sz="1400" dirty="0" smtClean="0"/>
              <a:t>문장</a:t>
            </a:r>
            <a:endParaRPr lang="ko-KR" altLang="en-US" sz="1400" dirty="0"/>
          </a:p>
        </p:txBody>
      </p:sp>
      <p:cxnSp>
        <p:nvCxnSpPr>
          <p:cNvPr id="30" name="직선 화살표 연결선 29"/>
          <p:cNvCxnSpPr/>
          <p:nvPr/>
        </p:nvCxnSpPr>
        <p:spPr>
          <a:xfrm rot="10800000" flipV="1">
            <a:off x="4500562" y="5786454"/>
            <a:ext cx="571504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00628" y="5643578"/>
            <a:ext cx="24449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 </a:t>
            </a:r>
            <a:r>
              <a:rPr lang="en-US" altLang="ko-KR" sz="1200" dirty="0" smtClean="0"/>
              <a:t>if</a:t>
            </a:r>
            <a:r>
              <a:rPr lang="ko-KR" altLang="en-US" sz="1200" dirty="0" smtClean="0"/>
              <a:t>를 탔을 때에만 실행하는 문장 </a:t>
            </a:r>
            <a:endParaRPr lang="ko-KR" altLang="en-US" sz="1200" dirty="0"/>
          </a:p>
        </p:txBody>
      </p:sp>
      <p:cxnSp>
        <p:nvCxnSpPr>
          <p:cNvPr id="33" name="직선 화살표 연결선 32"/>
          <p:cNvCxnSpPr/>
          <p:nvPr/>
        </p:nvCxnSpPr>
        <p:spPr>
          <a:xfrm rot="10800000">
            <a:off x="4500562" y="6143644"/>
            <a:ext cx="500066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929190" y="6072206"/>
            <a:ext cx="1566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 </a:t>
            </a:r>
            <a:r>
              <a:rPr lang="en-US" altLang="ko-KR" sz="1200" dirty="0" smtClean="0"/>
              <a:t>if</a:t>
            </a:r>
            <a:r>
              <a:rPr lang="ko-KR" altLang="en-US" sz="1200" dirty="0" smtClean="0"/>
              <a:t>와 상관 없이 실행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620233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*Flow Chart</a:t>
            </a:r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코드의 흐름을 몇 가지 도형을 사용하여 도식화한  </a:t>
            </a:r>
            <a:r>
              <a:rPr lang="en-US" altLang="ko-KR" sz="1600" dirty="0" smtClean="0"/>
              <a:t>diagram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간단한 코드나 업무의 흐름을 보여줄 때 사용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복잡한 코드는 그리지 않는다</a:t>
            </a:r>
            <a:r>
              <a:rPr lang="en-US" altLang="ko-KR" sz="1600" dirty="0" smtClean="0"/>
              <a:t>. ( </a:t>
            </a:r>
            <a:r>
              <a:rPr lang="ko-KR" altLang="en-US" sz="1600" dirty="0" smtClean="0"/>
              <a:t>복잡한 코드는 더 복잡해진다</a:t>
            </a:r>
            <a:r>
              <a:rPr lang="en-US" altLang="ko-KR" sz="1600" dirty="0" smtClean="0"/>
              <a:t>. )</a:t>
            </a:r>
            <a:endParaRPr lang="ko-KR" alt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428736"/>
            <a:ext cx="1000132" cy="365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14282" y="142873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시작</a:t>
            </a:r>
            <a:endParaRPr lang="ko-KR" altLang="en-US" sz="1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1928802"/>
            <a:ext cx="556094" cy="233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78708" y="185736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끝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71538" y="2306366"/>
            <a:ext cx="1643074" cy="468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285720" y="235743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출력</a:t>
            </a:r>
            <a:endParaRPr lang="ko-KR" alt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285720" y="292893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처리</a:t>
            </a:r>
            <a:endParaRPr lang="ko-KR" altLang="en-US" sz="1400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42976" y="2857496"/>
            <a:ext cx="500066" cy="504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000100" y="3500438"/>
            <a:ext cx="928694" cy="635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285720" y="364331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smtClean="0"/>
              <a:t>조건</a:t>
            </a:r>
            <a:endParaRPr lang="ko-KR" alt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285720" y="440710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입력</a:t>
            </a:r>
            <a:endParaRPr lang="ko-KR" altLang="en-US" sz="1400" dirty="0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000100" y="4214818"/>
            <a:ext cx="857256" cy="54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000100" y="4929198"/>
            <a:ext cx="642942" cy="422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TextBox 16"/>
          <p:cNvSpPr txBox="1"/>
          <p:nvPr/>
        </p:nvSpPr>
        <p:spPr>
          <a:xfrm>
            <a:off x="285720" y="500063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데이터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500042"/>
            <a:ext cx="4214842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2" y="428604"/>
            <a:ext cx="2071702" cy="2775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오른쪽 중괄호 4"/>
          <p:cNvSpPr/>
          <p:nvPr/>
        </p:nvSpPr>
        <p:spPr>
          <a:xfrm>
            <a:off x="2571736" y="1281097"/>
            <a:ext cx="142876" cy="3571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 rot="10800000" flipV="1">
            <a:off x="2786050" y="1214422"/>
            <a:ext cx="2643206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오른쪽 중괄호 7"/>
          <p:cNvSpPr/>
          <p:nvPr/>
        </p:nvSpPr>
        <p:spPr>
          <a:xfrm>
            <a:off x="2071670" y="1928802"/>
            <a:ext cx="142876" cy="42862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왼쪽 중괄호 8"/>
          <p:cNvSpPr/>
          <p:nvPr/>
        </p:nvSpPr>
        <p:spPr>
          <a:xfrm>
            <a:off x="5357818" y="1785926"/>
            <a:ext cx="45719" cy="50006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/>
          <p:cNvCxnSpPr/>
          <p:nvPr/>
        </p:nvCxnSpPr>
        <p:spPr>
          <a:xfrm rot="10800000" flipV="1">
            <a:off x="2285984" y="2000240"/>
            <a:ext cx="3071834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rot="10800000" flipV="1">
            <a:off x="4357686" y="2643182"/>
            <a:ext cx="571504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0" y="114298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필수코드</a:t>
            </a:r>
            <a:endParaRPr lang="ko-KR" altLang="en-US" sz="12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714876" y="20716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선택코드</a:t>
            </a:r>
            <a:endParaRPr lang="ko-KR" altLang="en-US" sz="12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4936813" y="164305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mtClean="0"/>
              <a:t>조건</a:t>
            </a:r>
            <a:endParaRPr lang="ko-KR" altLang="en-US" sz="12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4724400" y="265193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/>
              <a:t>필수코드</a:t>
            </a:r>
            <a:endParaRPr lang="ko-KR" altLang="en-US" sz="1200" b="1" dirty="0"/>
          </a:p>
        </p:txBody>
      </p:sp>
      <p:sp>
        <p:nvSpPr>
          <p:cNvPr id="18" name="오른쪽 중괄호 17"/>
          <p:cNvSpPr/>
          <p:nvPr/>
        </p:nvSpPr>
        <p:spPr>
          <a:xfrm>
            <a:off x="3143240" y="500042"/>
            <a:ext cx="71438" cy="5715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/>
          <p:cNvCxnSpPr/>
          <p:nvPr/>
        </p:nvCxnSpPr>
        <p:spPr>
          <a:xfrm rot="10800000" flipV="1">
            <a:off x="3214678" y="714356"/>
            <a:ext cx="2428892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오른쪽 중괄호 20"/>
          <p:cNvSpPr/>
          <p:nvPr/>
        </p:nvSpPr>
        <p:spPr>
          <a:xfrm>
            <a:off x="1000100" y="2928934"/>
            <a:ext cx="71438" cy="35719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/>
          <p:cNvCxnSpPr>
            <a:endCxn id="21" idx="1"/>
          </p:cNvCxnSpPr>
          <p:nvPr/>
        </p:nvCxnSpPr>
        <p:spPr>
          <a:xfrm rot="10800000" flipV="1">
            <a:off x="1071538" y="3071809"/>
            <a:ext cx="4429156" cy="357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642918"/>
            <a:ext cx="1656637" cy="3221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86116" y="714356"/>
            <a:ext cx="3071834" cy="2939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왼쪽 중괄호 5"/>
          <p:cNvSpPr/>
          <p:nvPr/>
        </p:nvSpPr>
        <p:spPr>
          <a:xfrm>
            <a:off x="3286116" y="714356"/>
            <a:ext cx="45719" cy="4286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1214414" y="785794"/>
            <a:ext cx="2071702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>
            <a:off x="1500166" y="1142984"/>
            <a:ext cx="2357454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>
            <a:off x="1500166" y="1500174"/>
            <a:ext cx="228601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V="1">
            <a:off x="1571604" y="1785926"/>
            <a:ext cx="2286016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오른쪽 중괄호 14"/>
          <p:cNvSpPr/>
          <p:nvPr/>
        </p:nvSpPr>
        <p:spPr>
          <a:xfrm>
            <a:off x="1928794" y="2214554"/>
            <a:ext cx="71438" cy="5715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왼쪽 중괄호 15"/>
          <p:cNvSpPr/>
          <p:nvPr/>
        </p:nvSpPr>
        <p:spPr>
          <a:xfrm>
            <a:off x="3786182" y="2000240"/>
            <a:ext cx="45719" cy="50006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/>
          <p:cNvCxnSpPr/>
          <p:nvPr/>
        </p:nvCxnSpPr>
        <p:spPr>
          <a:xfrm flipV="1">
            <a:off x="2071670" y="2214554"/>
            <a:ext cx="1643074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오른쪽 중괄호 18"/>
          <p:cNvSpPr/>
          <p:nvPr/>
        </p:nvSpPr>
        <p:spPr>
          <a:xfrm>
            <a:off x="1928794" y="2928934"/>
            <a:ext cx="71438" cy="5715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왼쪽 중괄호 19"/>
          <p:cNvSpPr/>
          <p:nvPr/>
        </p:nvSpPr>
        <p:spPr>
          <a:xfrm>
            <a:off x="3786182" y="2643182"/>
            <a:ext cx="45719" cy="35719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/>
          <p:cNvCxnSpPr/>
          <p:nvPr/>
        </p:nvCxnSpPr>
        <p:spPr>
          <a:xfrm flipV="1">
            <a:off x="2071670" y="2857496"/>
            <a:ext cx="1643074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왼쪽 중괄호 22"/>
          <p:cNvSpPr/>
          <p:nvPr/>
        </p:nvSpPr>
        <p:spPr>
          <a:xfrm>
            <a:off x="3214678" y="3143248"/>
            <a:ext cx="71438" cy="4286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/>
          <p:cNvCxnSpPr>
            <a:endCxn id="23" idx="1"/>
          </p:cNvCxnSpPr>
          <p:nvPr/>
        </p:nvCxnSpPr>
        <p:spPr>
          <a:xfrm flipV="1">
            <a:off x="1571604" y="3357562"/>
            <a:ext cx="1643074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8093882" cy="62786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*</a:t>
            </a:r>
            <a:r>
              <a:rPr lang="ko-KR" altLang="en-US" b="1" dirty="0" smtClean="0"/>
              <a:t>문자열 비교</a:t>
            </a:r>
            <a:endParaRPr lang="en-US" altLang="ko-KR" b="1" dirty="0" smtClean="0"/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관계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연산자를 사용한 대</a:t>
            </a:r>
            <a:r>
              <a:rPr lang="en-US" altLang="ko-KR" sz="1600" dirty="0" smtClean="0"/>
              <a:t>.</a:t>
            </a:r>
            <a:r>
              <a:rPr lang="ko-KR" altLang="en-US" sz="1600" dirty="0" smtClean="0"/>
              <a:t>소비교가 되지 않는다</a:t>
            </a:r>
            <a:r>
              <a:rPr lang="en-US" altLang="ko-KR" sz="1600" dirty="0" smtClean="0"/>
              <a:t>. ( “11” &gt;= 11 )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기본형 형식으로 사용했을 때에는 </a:t>
            </a:r>
            <a:r>
              <a:rPr lang="en-US" altLang="ko-KR" sz="1600" dirty="0" smtClean="0"/>
              <a:t>“</a:t>
            </a:r>
            <a:r>
              <a:rPr lang="ko-KR" altLang="en-US" sz="1600" dirty="0" smtClean="0"/>
              <a:t>같은지</a:t>
            </a:r>
            <a:r>
              <a:rPr lang="en-US" altLang="ko-KR" sz="1600" dirty="0" smtClean="0"/>
              <a:t>” </a:t>
            </a:r>
            <a:r>
              <a:rPr lang="ko-KR" altLang="en-US" sz="1600" dirty="0" smtClean="0"/>
              <a:t>만 </a:t>
            </a:r>
            <a:r>
              <a:rPr lang="en-US" altLang="ko-KR" sz="1600" dirty="0" smtClean="0"/>
              <a:t>== </a:t>
            </a:r>
            <a:r>
              <a:rPr lang="ko-KR" altLang="en-US" sz="1600" dirty="0" smtClean="0"/>
              <a:t>연산자로 비교할 수 있다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err="1" smtClean="0"/>
              <a:t>참조형</a:t>
            </a:r>
            <a:r>
              <a:rPr lang="ko-KR" altLang="en-US" sz="1600" dirty="0" smtClean="0"/>
              <a:t> 형식으로  사용하면 </a:t>
            </a:r>
            <a:r>
              <a:rPr lang="en-US" altLang="ko-KR" sz="1600" dirty="0" smtClean="0"/>
              <a:t>==</a:t>
            </a:r>
            <a:r>
              <a:rPr lang="ko-KR" altLang="en-US" sz="1600" dirty="0" smtClean="0"/>
              <a:t>으로는 비교할 수 없다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==</a:t>
            </a:r>
            <a:r>
              <a:rPr lang="ko-KR" altLang="en-US" sz="1600" dirty="0" smtClean="0"/>
              <a:t>연산자로 같은지를 비교하지 않고</a:t>
            </a:r>
            <a:r>
              <a:rPr lang="en-US" altLang="ko-KR" sz="1600" dirty="0" smtClean="0"/>
              <a:t>,  </a:t>
            </a:r>
            <a:r>
              <a:rPr lang="en-US" altLang="ko-KR" sz="1600" b="1" dirty="0" smtClean="0"/>
              <a:t>.equals</a:t>
            </a:r>
            <a:r>
              <a:rPr lang="en-US" altLang="ko-KR" sz="1600" dirty="0" smtClean="0"/>
              <a:t> method</a:t>
            </a:r>
            <a:r>
              <a:rPr lang="ko-KR" altLang="en-US" sz="1600" dirty="0" smtClean="0"/>
              <a:t>를 사용하여 </a:t>
            </a:r>
            <a:r>
              <a:rPr lang="en-US" altLang="ko-KR" sz="1600" dirty="0" smtClean="0"/>
              <a:t>“</a:t>
            </a:r>
            <a:r>
              <a:rPr lang="ko-KR" altLang="en-US" sz="1600" dirty="0" smtClean="0"/>
              <a:t>같은지</a:t>
            </a:r>
            <a:r>
              <a:rPr lang="en-US" altLang="ko-KR" sz="1600" dirty="0" smtClean="0"/>
              <a:t>”</a:t>
            </a:r>
            <a:r>
              <a:rPr lang="ko-KR" altLang="en-US" sz="1600" dirty="0" smtClean="0"/>
              <a:t>만 비교</a:t>
            </a:r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r>
              <a:rPr lang="ko-KR" altLang="en-US" sz="1600" dirty="0" smtClean="0"/>
              <a:t>사용법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smtClean="0"/>
              <a:t>문자열</a:t>
            </a:r>
            <a:r>
              <a:rPr lang="en-US" altLang="ko-KR" sz="1600" dirty="0" smtClean="0"/>
              <a:t>.equals(“</a:t>
            </a:r>
            <a:r>
              <a:rPr lang="ko-KR" altLang="en-US" sz="1600" dirty="0" err="1" smtClean="0"/>
              <a:t>비교할문자열</a:t>
            </a:r>
            <a:r>
              <a:rPr lang="en-US" altLang="ko-KR" sz="1600" dirty="0" smtClean="0"/>
              <a:t>”) =&gt; </a:t>
            </a:r>
            <a:r>
              <a:rPr lang="ko-KR" altLang="en-US" sz="1600" dirty="0" smtClean="0"/>
              <a:t>결과 </a:t>
            </a:r>
            <a:r>
              <a:rPr lang="en-US" altLang="ko-KR" sz="1600" dirty="0" smtClean="0"/>
              <a:t>true | false</a:t>
            </a:r>
          </a:p>
          <a:p>
            <a:endParaRPr lang="en-US" altLang="ko-KR" sz="1600" dirty="0"/>
          </a:p>
          <a:p>
            <a:r>
              <a:rPr lang="ko-KR" altLang="en-US" sz="1600" dirty="0" smtClean="0"/>
              <a:t>사용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if</a:t>
            </a:r>
            <a:r>
              <a:rPr lang="en-US" altLang="ko-KR" sz="1600" b="1" dirty="0" smtClean="0"/>
              <a:t>(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문자열</a:t>
            </a:r>
            <a:r>
              <a:rPr lang="en-US" altLang="ko-KR" sz="1600" dirty="0" smtClean="0"/>
              <a:t>.equals(“</a:t>
            </a:r>
            <a:r>
              <a:rPr lang="ko-KR" altLang="en-US" sz="1600" dirty="0" err="1" smtClean="0"/>
              <a:t>비교할문자열</a:t>
            </a:r>
            <a:r>
              <a:rPr lang="en-US" altLang="ko-KR" sz="1600" dirty="0" smtClean="0"/>
              <a:t>”) </a:t>
            </a:r>
            <a:r>
              <a:rPr lang="en-US" altLang="ko-KR" sz="1600" b="1" dirty="0" smtClean="0"/>
              <a:t>)</a:t>
            </a:r>
            <a:r>
              <a:rPr lang="en-US" altLang="ko-KR" sz="1600" dirty="0" smtClean="0"/>
              <a:t>{</a:t>
            </a:r>
          </a:p>
          <a:p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}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 if</a:t>
            </a:r>
            <a:r>
              <a:rPr lang="en-US" altLang="ko-KR" sz="1600" b="1" dirty="0" smtClean="0"/>
              <a:t>(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args</a:t>
            </a:r>
            <a:r>
              <a:rPr lang="en-US" altLang="ko-KR" sz="1600" dirty="0" smtClean="0"/>
              <a:t>[0].equals(“</a:t>
            </a:r>
            <a:r>
              <a:rPr lang="ko-KR" altLang="en-US" sz="1600" dirty="0" err="1" smtClean="0"/>
              <a:t>비교할문자열</a:t>
            </a:r>
            <a:r>
              <a:rPr lang="en-US" altLang="ko-KR" sz="1600" dirty="0" smtClean="0"/>
              <a:t>”) </a:t>
            </a:r>
            <a:r>
              <a:rPr lang="en-US" altLang="ko-KR" sz="1600" b="1" dirty="0" smtClean="0"/>
              <a:t>)</a:t>
            </a:r>
            <a:r>
              <a:rPr lang="en-US" altLang="ko-KR" sz="1600" dirty="0" smtClean="0"/>
              <a:t>{</a:t>
            </a:r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   }</a:t>
            </a:r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  if</a:t>
            </a:r>
            <a:r>
              <a:rPr lang="en-US" altLang="ko-KR" sz="1600" b="1" dirty="0" smtClean="0"/>
              <a:t>(</a:t>
            </a:r>
            <a:r>
              <a:rPr lang="en-US" altLang="ko-KR" sz="1600" dirty="0" smtClean="0"/>
              <a:t>“</a:t>
            </a:r>
            <a:r>
              <a:rPr lang="ko-KR" altLang="en-US" sz="1600" dirty="0" err="1" smtClean="0"/>
              <a:t>비교할문자열</a:t>
            </a:r>
            <a:r>
              <a:rPr lang="en-US" altLang="ko-KR" sz="1600" dirty="0" smtClean="0"/>
              <a:t>”.equals(</a:t>
            </a:r>
            <a:r>
              <a:rPr lang="en-US" altLang="ko-KR" sz="1600" dirty="0" err="1" smtClean="0"/>
              <a:t>args</a:t>
            </a:r>
            <a:r>
              <a:rPr lang="en-US" altLang="ko-KR" sz="1600" dirty="0" smtClean="0"/>
              <a:t>[0]) </a:t>
            </a:r>
            <a:r>
              <a:rPr lang="en-US" altLang="ko-KR" sz="1600" b="1" dirty="0" smtClean="0"/>
              <a:t>)</a:t>
            </a:r>
            <a:r>
              <a:rPr lang="en-US" altLang="ko-KR" sz="1600" dirty="0" smtClean="0"/>
              <a:t>{</a:t>
            </a:r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   }</a:t>
            </a:r>
          </a:p>
          <a:p>
            <a:endParaRPr lang="ko-KR" altLang="en-US" sz="1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857364"/>
            <a:ext cx="4000528" cy="300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화살표 연결선 5"/>
          <p:cNvCxnSpPr/>
          <p:nvPr/>
        </p:nvCxnSpPr>
        <p:spPr>
          <a:xfrm rot="10800000" flipV="1">
            <a:off x="3643306" y="1500174"/>
            <a:ext cx="714380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3570" y="3214686"/>
            <a:ext cx="2214578" cy="3504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3948517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*</a:t>
            </a:r>
            <a:r>
              <a:rPr lang="en-US" altLang="ko-KR" b="1" dirty="0" err="1" smtClean="0"/>
              <a:t>if~else</a:t>
            </a:r>
            <a:endParaRPr lang="en-US" altLang="ko-KR" b="1" dirty="0" smtClean="0"/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둘 중 하나의 코드를 실행해야 할 때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 smtClean="0"/>
              <a:t>문법</a:t>
            </a:r>
            <a:r>
              <a:rPr lang="en-US" altLang="ko-KR" sz="1600" dirty="0" smtClean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 if( </a:t>
            </a:r>
            <a:r>
              <a:rPr lang="ko-KR" altLang="en-US" sz="1600" dirty="0" err="1" smtClean="0"/>
              <a:t>조건식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){</a:t>
            </a:r>
          </a:p>
          <a:p>
            <a:r>
              <a:rPr lang="en-US" altLang="ko-KR" sz="1600" dirty="0" smtClean="0"/>
              <a:t>     </a:t>
            </a:r>
            <a:r>
              <a:rPr lang="ko-KR" altLang="en-US" sz="1600" dirty="0" smtClean="0"/>
              <a:t>조건에 맞을 때 수행될 문장들</a:t>
            </a:r>
            <a:r>
              <a:rPr lang="en-US" altLang="ko-KR" sz="1600" dirty="0" smtClean="0"/>
              <a:t>…..;</a:t>
            </a:r>
          </a:p>
          <a:p>
            <a:r>
              <a:rPr lang="en-US" altLang="ko-KR" sz="1600" dirty="0" smtClean="0"/>
              <a:t>  }else{</a:t>
            </a:r>
          </a:p>
          <a:p>
            <a:r>
              <a:rPr lang="en-US" altLang="ko-KR" sz="1600" dirty="0" smtClean="0"/>
              <a:t>    </a:t>
            </a:r>
            <a:r>
              <a:rPr lang="ko-KR" altLang="en-US" sz="1600" dirty="0" smtClean="0"/>
              <a:t>조건에 맞지 않을 때 수행될 문장들</a:t>
            </a:r>
            <a:r>
              <a:rPr lang="en-US" altLang="ko-KR" sz="1600" dirty="0" smtClean="0"/>
              <a:t>….;</a:t>
            </a:r>
            <a:endParaRPr lang="en-US" altLang="ko-KR" sz="1600" dirty="0"/>
          </a:p>
          <a:p>
            <a:r>
              <a:rPr lang="en-US" altLang="ko-KR" sz="1600" dirty="0" smtClean="0"/>
              <a:t>  }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 smtClean="0"/>
              <a:t>   </a:t>
            </a:r>
            <a:endParaRPr lang="ko-KR" altLang="en-US" sz="16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4876" y="571480"/>
            <a:ext cx="2002110" cy="1716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2714620"/>
            <a:ext cx="5286412" cy="3535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톱니 모양의 오른쪽 화살표 5"/>
          <p:cNvSpPr/>
          <p:nvPr/>
        </p:nvSpPr>
        <p:spPr>
          <a:xfrm>
            <a:off x="3000364" y="4572008"/>
            <a:ext cx="357190" cy="28575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8448338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b="1" dirty="0" smtClean="0"/>
              <a:t>다중 </a:t>
            </a:r>
            <a:r>
              <a:rPr lang="en-US" altLang="ko-KR" b="1" dirty="0" smtClean="0"/>
              <a:t>if ( else ~ if )</a:t>
            </a:r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연관된 여러 조건을 비교할 때 사용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 smtClean="0"/>
              <a:t>문법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if( </a:t>
            </a:r>
            <a:r>
              <a:rPr lang="ko-KR" altLang="en-US" sz="1600" b="1" dirty="0" err="1" smtClean="0"/>
              <a:t>조건식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){</a:t>
            </a:r>
          </a:p>
          <a:p>
            <a:r>
              <a:rPr lang="en-US" altLang="ko-KR" sz="1600" dirty="0" smtClean="0"/>
              <a:t>    </a:t>
            </a:r>
            <a:r>
              <a:rPr lang="ko-KR" altLang="en-US" sz="1600" dirty="0" smtClean="0"/>
              <a:t>조건에 맞을 때 수행할 문장 들</a:t>
            </a:r>
            <a:r>
              <a:rPr lang="en-US" altLang="ko-KR" sz="1600" dirty="0" smtClean="0"/>
              <a:t>…;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} else if ( </a:t>
            </a:r>
            <a:r>
              <a:rPr lang="ko-KR" altLang="en-US" sz="1600" b="1" dirty="0" err="1" smtClean="0"/>
              <a:t>조건식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){</a:t>
            </a:r>
          </a:p>
          <a:p>
            <a:r>
              <a:rPr lang="en-US" altLang="ko-KR" sz="1600" dirty="0" smtClean="0"/>
              <a:t>    </a:t>
            </a:r>
            <a:r>
              <a:rPr lang="ko-KR" altLang="en-US" sz="1600" dirty="0" smtClean="0"/>
              <a:t>조건에 맞을 때 수행할 문장 들</a:t>
            </a:r>
            <a:r>
              <a:rPr lang="en-US" altLang="ko-KR" sz="1600" dirty="0" smtClean="0"/>
              <a:t>…;  </a:t>
            </a:r>
          </a:p>
          <a:p>
            <a:r>
              <a:rPr lang="en-US" altLang="ko-KR" sz="1600" dirty="0" smtClean="0"/>
              <a:t>  } else if ( </a:t>
            </a:r>
            <a:r>
              <a:rPr lang="ko-KR" altLang="en-US" sz="1600" b="1" dirty="0" err="1" smtClean="0"/>
              <a:t>조건식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){</a:t>
            </a:r>
          </a:p>
          <a:p>
            <a:r>
              <a:rPr lang="en-US" altLang="ko-KR" sz="1600" dirty="0" smtClean="0"/>
              <a:t>    </a:t>
            </a:r>
            <a:r>
              <a:rPr lang="ko-KR" altLang="en-US" sz="1600" dirty="0" smtClean="0"/>
              <a:t>조건에 맞을 때 수행할 문장 들</a:t>
            </a:r>
            <a:r>
              <a:rPr lang="en-US" altLang="ko-KR" sz="1600" dirty="0" smtClean="0"/>
              <a:t>…;  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 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}else{</a:t>
            </a:r>
          </a:p>
          <a:p>
            <a:r>
              <a:rPr lang="en-US" altLang="ko-KR" sz="1600" dirty="0" smtClean="0"/>
              <a:t>    </a:t>
            </a:r>
            <a:r>
              <a:rPr lang="ko-KR" altLang="en-US" sz="1600" dirty="0" smtClean="0"/>
              <a:t>모든 조건에 맞지 않을 때 수행될 문장들</a:t>
            </a:r>
            <a:r>
              <a:rPr lang="en-US" altLang="ko-KR" sz="1600" dirty="0" smtClean="0"/>
              <a:t>..</a:t>
            </a:r>
            <a:endParaRPr lang="en-US" altLang="ko-KR" sz="1600" dirty="0"/>
          </a:p>
          <a:p>
            <a:r>
              <a:rPr lang="en-US" altLang="ko-KR" sz="1600" dirty="0" smtClean="0"/>
              <a:t>  }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*</a:t>
            </a:r>
            <a:r>
              <a:rPr lang="ko-KR" altLang="en-US" sz="1600" dirty="0" smtClean="0"/>
              <a:t>점수를 </a:t>
            </a:r>
            <a:r>
              <a:rPr lang="ko-KR" altLang="en-US" sz="1600" dirty="0" err="1" smtClean="0"/>
              <a:t>입력받아</a:t>
            </a:r>
            <a:r>
              <a:rPr lang="ko-KR" altLang="en-US" sz="1600" dirty="0" smtClean="0"/>
              <a:t>  유효범위 검증하는 코드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 </a:t>
            </a:r>
            <a:r>
              <a:rPr lang="en-US" altLang="ko-KR" sz="1600" b="1" dirty="0" smtClean="0"/>
              <a:t>0</a:t>
            </a:r>
            <a:r>
              <a:rPr lang="ko-KR" altLang="en-US" sz="1600" dirty="0" smtClean="0"/>
              <a:t>점보다 작으면 </a:t>
            </a:r>
            <a:r>
              <a:rPr lang="en-US" altLang="ko-KR" sz="1600" dirty="0" smtClean="0"/>
              <a:t>“0</a:t>
            </a:r>
            <a:r>
              <a:rPr lang="ko-KR" altLang="en-US" sz="1600" dirty="0" smtClean="0"/>
              <a:t>보다 작아서 실패</a:t>
            </a:r>
            <a:r>
              <a:rPr lang="en-US" altLang="ko-KR" sz="1600" dirty="0" smtClean="0"/>
              <a:t>”, </a:t>
            </a:r>
            <a:r>
              <a:rPr lang="en-US" altLang="ko-KR" sz="1600" b="1" dirty="0" smtClean="0"/>
              <a:t>100</a:t>
            </a:r>
            <a:r>
              <a:rPr lang="ko-KR" altLang="en-US" sz="1600" dirty="0" smtClean="0"/>
              <a:t>보다 크면 </a:t>
            </a:r>
            <a:r>
              <a:rPr lang="en-US" altLang="ko-KR" sz="1600" dirty="0" smtClean="0"/>
              <a:t>“100”</a:t>
            </a:r>
            <a:r>
              <a:rPr lang="ko-KR" altLang="en-US" sz="1600" dirty="0" smtClean="0"/>
              <a:t>보다 커서 실패</a:t>
            </a:r>
            <a:r>
              <a:rPr lang="en-US" altLang="ko-KR" sz="1600" dirty="0" smtClean="0"/>
              <a:t>, </a:t>
            </a:r>
            <a:r>
              <a:rPr lang="ko-KR" altLang="en-US" sz="1600" b="1" dirty="0" smtClean="0"/>
              <a:t>그렇지 않으면 </a:t>
            </a:r>
            <a:endParaRPr lang="en-US" altLang="ko-KR" sz="1600" b="1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“</a:t>
            </a:r>
            <a:r>
              <a:rPr lang="ko-KR" altLang="en-US" sz="1600" dirty="0" smtClean="0"/>
              <a:t>유효점수</a:t>
            </a:r>
            <a:r>
              <a:rPr lang="en-US" altLang="ko-KR" sz="1600" dirty="0" smtClean="0"/>
              <a:t>” </a:t>
            </a:r>
            <a:r>
              <a:rPr lang="ko-KR" altLang="en-US" sz="1600" dirty="0" smtClean="0"/>
              <a:t>를 출력하는 코드 작성</a:t>
            </a:r>
            <a:r>
              <a:rPr lang="en-US" altLang="ko-KR" sz="1600" dirty="0" smtClean="0"/>
              <a:t>.</a:t>
            </a:r>
            <a:endParaRPr lang="en-US" altLang="ko-KR" sz="1600" dirty="0"/>
          </a:p>
          <a:p>
            <a:r>
              <a:rPr lang="en-US" altLang="ko-KR" sz="1600" dirty="0" smtClean="0"/>
              <a:t>   </a:t>
            </a:r>
            <a:endParaRPr lang="ko-KR" altLang="en-US" sz="1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4" y="571480"/>
            <a:ext cx="4205433" cy="2771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직선 화살표 연결선 5"/>
          <p:cNvCxnSpPr/>
          <p:nvPr/>
        </p:nvCxnSpPr>
        <p:spPr>
          <a:xfrm>
            <a:off x="1714480" y="785794"/>
            <a:ext cx="3000396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>
            <a:off x="1714480" y="785794"/>
            <a:ext cx="4143404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>
            <a:off x="1714480" y="785794"/>
            <a:ext cx="5286412" cy="10715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5000636"/>
            <a:ext cx="1882768" cy="162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자유형 10"/>
          <p:cNvSpPr/>
          <p:nvPr/>
        </p:nvSpPr>
        <p:spPr>
          <a:xfrm>
            <a:off x="152400" y="4375150"/>
            <a:ext cx="285750" cy="703196"/>
          </a:xfrm>
          <a:custGeom>
            <a:avLst/>
            <a:gdLst>
              <a:gd name="connsiteX0" fmla="*/ 165100 w 285750"/>
              <a:gd name="connsiteY0" fmla="*/ 0 h 703196"/>
              <a:gd name="connsiteX1" fmla="*/ 133350 w 285750"/>
              <a:gd name="connsiteY1" fmla="*/ 6350 h 703196"/>
              <a:gd name="connsiteX2" fmla="*/ 95250 w 285750"/>
              <a:gd name="connsiteY2" fmla="*/ 38100 h 703196"/>
              <a:gd name="connsiteX3" fmla="*/ 63500 w 285750"/>
              <a:gd name="connsiteY3" fmla="*/ 76200 h 703196"/>
              <a:gd name="connsiteX4" fmla="*/ 50800 w 285750"/>
              <a:gd name="connsiteY4" fmla="*/ 114300 h 703196"/>
              <a:gd name="connsiteX5" fmla="*/ 31750 w 285750"/>
              <a:gd name="connsiteY5" fmla="*/ 139700 h 703196"/>
              <a:gd name="connsiteX6" fmla="*/ 12700 w 285750"/>
              <a:gd name="connsiteY6" fmla="*/ 177800 h 703196"/>
              <a:gd name="connsiteX7" fmla="*/ 0 w 285750"/>
              <a:gd name="connsiteY7" fmla="*/ 222250 h 703196"/>
              <a:gd name="connsiteX8" fmla="*/ 6350 w 285750"/>
              <a:gd name="connsiteY8" fmla="*/ 412750 h 703196"/>
              <a:gd name="connsiteX9" fmla="*/ 19050 w 285750"/>
              <a:gd name="connsiteY9" fmla="*/ 431800 h 703196"/>
              <a:gd name="connsiteX10" fmla="*/ 25400 w 285750"/>
              <a:gd name="connsiteY10" fmla="*/ 450850 h 703196"/>
              <a:gd name="connsiteX11" fmla="*/ 44450 w 285750"/>
              <a:gd name="connsiteY11" fmla="*/ 476250 h 703196"/>
              <a:gd name="connsiteX12" fmla="*/ 57150 w 285750"/>
              <a:gd name="connsiteY12" fmla="*/ 508000 h 703196"/>
              <a:gd name="connsiteX13" fmla="*/ 69850 w 285750"/>
              <a:gd name="connsiteY13" fmla="*/ 527050 h 703196"/>
              <a:gd name="connsiteX14" fmla="*/ 107950 w 285750"/>
              <a:gd name="connsiteY14" fmla="*/ 584200 h 703196"/>
              <a:gd name="connsiteX15" fmla="*/ 114300 w 285750"/>
              <a:gd name="connsiteY15" fmla="*/ 603250 h 703196"/>
              <a:gd name="connsiteX16" fmla="*/ 190500 w 285750"/>
              <a:gd name="connsiteY16" fmla="*/ 666750 h 703196"/>
              <a:gd name="connsiteX17" fmla="*/ 222250 w 285750"/>
              <a:gd name="connsiteY17" fmla="*/ 679450 h 703196"/>
              <a:gd name="connsiteX18" fmla="*/ 241300 w 285750"/>
              <a:gd name="connsiteY18" fmla="*/ 685800 h 703196"/>
              <a:gd name="connsiteX19" fmla="*/ 285750 w 285750"/>
              <a:gd name="connsiteY19" fmla="*/ 698500 h 703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85750" h="703196">
                <a:moveTo>
                  <a:pt x="165100" y="0"/>
                </a:moveTo>
                <a:cubicBezTo>
                  <a:pt x="154517" y="2117"/>
                  <a:pt x="143456" y="2560"/>
                  <a:pt x="133350" y="6350"/>
                </a:cubicBezTo>
                <a:cubicBezTo>
                  <a:pt x="119205" y="11654"/>
                  <a:pt x="105133" y="28217"/>
                  <a:pt x="95250" y="38100"/>
                </a:cubicBezTo>
                <a:cubicBezTo>
                  <a:pt x="75828" y="96367"/>
                  <a:pt x="109632" y="7002"/>
                  <a:pt x="63500" y="76200"/>
                </a:cubicBezTo>
                <a:cubicBezTo>
                  <a:pt x="56074" y="87339"/>
                  <a:pt x="55033" y="101600"/>
                  <a:pt x="50800" y="114300"/>
                </a:cubicBezTo>
                <a:cubicBezTo>
                  <a:pt x="47453" y="124340"/>
                  <a:pt x="38100" y="131233"/>
                  <a:pt x="31750" y="139700"/>
                </a:cubicBezTo>
                <a:cubicBezTo>
                  <a:pt x="15789" y="187583"/>
                  <a:pt x="37319" y="128561"/>
                  <a:pt x="12700" y="177800"/>
                </a:cubicBezTo>
                <a:cubicBezTo>
                  <a:pt x="8145" y="186910"/>
                  <a:pt x="2035" y="214112"/>
                  <a:pt x="0" y="222250"/>
                </a:cubicBezTo>
                <a:cubicBezTo>
                  <a:pt x="2117" y="285750"/>
                  <a:pt x="598" y="349476"/>
                  <a:pt x="6350" y="412750"/>
                </a:cubicBezTo>
                <a:cubicBezTo>
                  <a:pt x="7041" y="420350"/>
                  <a:pt x="15637" y="424974"/>
                  <a:pt x="19050" y="431800"/>
                </a:cubicBezTo>
                <a:cubicBezTo>
                  <a:pt x="22043" y="437787"/>
                  <a:pt x="22079" y="445038"/>
                  <a:pt x="25400" y="450850"/>
                </a:cubicBezTo>
                <a:cubicBezTo>
                  <a:pt x="30651" y="460039"/>
                  <a:pt x="39310" y="466999"/>
                  <a:pt x="44450" y="476250"/>
                </a:cubicBezTo>
                <a:cubicBezTo>
                  <a:pt x="49986" y="486214"/>
                  <a:pt x="52052" y="497805"/>
                  <a:pt x="57150" y="508000"/>
                </a:cubicBezTo>
                <a:cubicBezTo>
                  <a:pt x="60563" y="514826"/>
                  <a:pt x="66144" y="520379"/>
                  <a:pt x="69850" y="527050"/>
                </a:cubicBezTo>
                <a:cubicBezTo>
                  <a:pt x="98683" y="578949"/>
                  <a:pt x="75213" y="551463"/>
                  <a:pt x="107950" y="584200"/>
                </a:cubicBezTo>
                <a:cubicBezTo>
                  <a:pt x="110067" y="590550"/>
                  <a:pt x="110191" y="597966"/>
                  <a:pt x="114300" y="603250"/>
                </a:cubicBezTo>
                <a:cubicBezTo>
                  <a:pt x="128629" y="621673"/>
                  <a:pt x="166830" y="657282"/>
                  <a:pt x="190500" y="666750"/>
                </a:cubicBezTo>
                <a:cubicBezTo>
                  <a:pt x="201083" y="670983"/>
                  <a:pt x="211577" y="675448"/>
                  <a:pt x="222250" y="679450"/>
                </a:cubicBezTo>
                <a:cubicBezTo>
                  <a:pt x="228517" y="681800"/>
                  <a:pt x="235313" y="682807"/>
                  <a:pt x="241300" y="685800"/>
                </a:cubicBezTo>
                <a:cubicBezTo>
                  <a:pt x="276093" y="703196"/>
                  <a:pt x="243068" y="698500"/>
                  <a:pt x="285750" y="69850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톱니 모양의 오른쪽 화살표 11"/>
          <p:cNvSpPr/>
          <p:nvPr/>
        </p:nvSpPr>
        <p:spPr>
          <a:xfrm>
            <a:off x="2428860" y="5429264"/>
            <a:ext cx="428628" cy="28575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3500430" y="4857760"/>
            <a:ext cx="431515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 smtClean="0"/>
              <a:t>int</a:t>
            </a:r>
            <a:r>
              <a:rPr lang="en-US" altLang="ko-KR" sz="1600" dirty="0" smtClean="0"/>
              <a:t> score=0;</a:t>
            </a:r>
          </a:p>
          <a:p>
            <a:r>
              <a:rPr lang="en-US" altLang="ko-KR" sz="1600" dirty="0"/>
              <a:t>i</a:t>
            </a:r>
            <a:r>
              <a:rPr lang="en-US" altLang="ko-KR" sz="1600" dirty="0" smtClean="0"/>
              <a:t>f( score &lt; 0 ){</a:t>
            </a:r>
          </a:p>
          <a:p>
            <a:r>
              <a:rPr lang="en-US" altLang="ko-KR" sz="1600" dirty="0" smtClean="0"/>
              <a:t>   </a:t>
            </a:r>
            <a:r>
              <a:rPr lang="en-US" altLang="ko-KR" sz="1600" dirty="0" err="1" smtClean="0"/>
              <a:t>System.out.println</a:t>
            </a:r>
            <a:r>
              <a:rPr lang="en-US" altLang="ko-KR" sz="1600" dirty="0" smtClean="0"/>
              <a:t>( “0</a:t>
            </a:r>
            <a:r>
              <a:rPr lang="ko-KR" altLang="en-US" sz="1600" dirty="0" smtClean="0"/>
              <a:t>보다 작아서 실패 </a:t>
            </a:r>
            <a:r>
              <a:rPr lang="en-US" altLang="ko-KR" sz="1600" dirty="0" smtClean="0"/>
              <a:t>“);</a:t>
            </a:r>
          </a:p>
          <a:p>
            <a:r>
              <a:rPr lang="en-US" altLang="ko-KR" sz="1600" dirty="0" smtClean="0"/>
              <a:t>} </a:t>
            </a:r>
            <a:r>
              <a:rPr lang="en-US" altLang="ko-KR" sz="1600" b="1" dirty="0" smtClean="0"/>
              <a:t>else if </a:t>
            </a:r>
            <a:r>
              <a:rPr lang="en-US" altLang="ko-KR" sz="1600" dirty="0" smtClean="0"/>
              <a:t>( score &gt; 100 ){</a:t>
            </a:r>
          </a:p>
          <a:p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System.out.println</a:t>
            </a:r>
            <a:r>
              <a:rPr lang="en-US" altLang="ko-KR" sz="1600" dirty="0" smtClean="0"/>
              <a:t>( “100</a:t>
            </a:r>
            <a:r>
              <a:rPr lang="ko-KR" altLang="en-US" sz="1600" dirty="0" smtClean="0"/>
              <a:t>보다 커서 실패 </a:t>
            </a:r>
            <a:r>
              <a:rPr lang="en-US" altLang="ko-KR" sz="1600" dirty="0" smtClean="0"/>
              <a:t>“);</a:t>
            </a:r>
          </a:p>
          <a:p>
            <a:r>
              <a:rPr lang="en-US" altLang="ko-KR" sz="1600" dirty="0" smtClean="0"/>
              <a:t>}else{</a:t>
            </a:r>
          </a:p>
          <a:p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System.out.println</a:t>
            </a:r>
            <a:r>
              <a:rPr lang="en-US" altLang="ko-KR" sz="1600" dirty="0" smtClean="0"/>
              <a:t>( “</a:t>
            </a:r>
            <a:r>
              <a:rPr lang="ko-KR" altLang="en-US" sz="1600" dirty="0" smtClean="0"/>
              <a:t>성공</a:t>
            </a:r>
            <a:r>
              <a:rPr lang="en-US" altLang="ko-KR" sz="1600" dirty="0" smtClean="0"/>
              <a:t>“);</a:t>
            </a:r>
            <a:endParaRPr lang="en-US" altLang="ko-KR" sz="1600" dirty="0"/>
          </a:p>
          <a:p>
            <a:r>
              <a:rPr lang="en-US" altLang="ko-KR" sz="1600" dirty="0" smtClean="0"/>
              <a:t>}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8103500" cy="62786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*</a:t>
            </a:r>
            <a:r>
              <a:rPr lang="en-US" altLang="ko-KR" b="1" dirty="0" err="1" smtClean="0"/>
              <a:t>switch~case</a:t>
            </a:r>
            <a:endParaRPr lang="en-US" altLang="ko-KR" b="1" dirty="0" smtClean="0"/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일치하는 </a:t>
            </a:r>
            <a:r>
              <a:rPr lang="ko-KR" altLang="en-US" sz="1600" b="1" dirty="0" smtClean="0"/>
              <a:t>정수를 비교</a:t>
            </a:r>
            <a:r>
              <a:rPr lang="ko-KR" altLang="en-US" sz="1600" dirty="0" smtClean="0"/>
              <a:t>하기 위해서 만들어진 </a:t>
            </a:r>
            <a:r>
              <a:rPr lang="ko-KR" altLang="en-US" sz="1600" dirty="0" err="1" smtClean="0"/>
              <a:t>조건문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Open JDK7( JDK1.7)</a:t>
            </a:r>
            <a:r>
              <a:rPr lang="ko-KR" altLang="en-US" sz="1600" dirty="0" smtClean="0"/>
              <a:t>버전에서부터는 일치하는 </a:t>
            </a:r>
            <a:r>
              <a:rPr lang="en-US" altLang="ko-KR" sz="1600" dirty="0" smtClean="0"/>
              <a:t>“</a:t>
            </a:r>
            <a:r>
              <a:rPr lang="ko-KR" altLang="en-US" sz="1600" b="1" dirty="0" smtClean="0"/>
              <a:t>문자열</a:t>
            </a:r>
            <a:r>
              <a:rPr lang="en-US" altLang="ko-KR" sz="1600" dirty="0" smtClean="0"/>
              <a:t>”</a:t>
            </a:r>
            <a:r>
              <a:rPr lang="ko-KR" altLang="en-US" sz="1600" dirty="0" smtClean="0"/>
              <a:t>을 비교할 수 있는 기능 추가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동작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입력되는 변수와 일치하는 상수를 찾고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그 아래 모든 </a:t>
            </a:r>
            <a:r>
              <a:rPr lang="en-US" altLang="ko-KR" sz="1600" dirty="0" smtClean="0"/>
              <a:t>case</a:t>
            </a:r>
            <a:r>
              <a:rPr lang="ko-KR" altLang="en-US" sz="1600" dirty="0" smtClean="0"/>
              <a:t>를 수행한다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 smtClean="0"/>
              <a:t>문법</a:t>
            </a:r>
            <a:r>
              <a:rPr lang="en-US" altLang="ko-KR" sz="1600" dirty="0" smtClean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  switch( </a:t>
            </a:r>
            <a:r>
              <a:rPr lang="ko-KR" altLang="en-US" sz="1600" b="1" dirty="0" err="1" smtClean="0"/>
              <a:t>변수명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){</a:t>
            </a:r>
          </a:p>
          <a:p>
            <a:r>
              <a:rPr lang="en-US" altLang="ko-KR" sz="1600" dirty="0" smtClean="0"/>
              <a:t>     case </a:t>
            </a:r>
            <a:r>
              <a:rPr lang="ko-KR" altLang="en-US" sz="1600" b="1" dirty="0" smtClean="0"/>
              <a:t>상수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수행될 문장들</a:t>
            </a:r>
            <a:r>
              <a:rPr lang="en-US" altLang="ko-KR" sz="1600" dirty="0" smtClean="0"/>
              <a:t>.. ;</a:t>
            </a:r>
          </a:p>
          <a:p>
            <a:r>
              <a:rPr lang="en-US" altLang="ko-KR" sz="1600" dirty="0" smtClean="0"/>
              <a:t>     case </a:t>
            </a:r>
            <a:r>
              <a:rPr lang="ko-KR" altLang="en-US" sz="1600" b="1" dirty="0" smtClean="0"/>
              <a:t>상수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수행될 문장들</a:t>
            </a:r>
            <a:r>
              <a:rPr lang="en-US" altLang="ko-KR" sz="1600" dirty="0" smtClean="0"/>
              <a:t>.. ; </a:t>
            </a:r>
            <a:r>
              <a:rPr lang="en-US" altLang="ko-KR" sz="1600" b="1" dirty="0" smtClean="0"/>
              <a:t>break;</a:t>
            </a:r>
            <a:endParaRPr lang="en-US" altLang="ko-KR" sz="1600" b="1" dirty="0"/>
          </a:p>
          <a:p>
            <a:r>
              <a:rPr lang="en-US" altLang="ko-KR" sz="1600" dirty="0" smtClean="0"/>
              <a:t>             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        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default : </a:t>
            </a:r>
            <a:r>
              <a:rPr lang="ko-KR" altLang="en-US" sz="1600" dirty="0" smtClean="0"/>
              <a:t>일치하는 상수가 없을 때 실행될 문장들</a:t>
            </a:r>
            <a:r>
              <a:rPr lang="en-US" altLang="ko-KR" sz="1600" dirty="0" smtClean="0"/>
              <a:t>…</a:t>
            </a:r>
            <a:r>
              <a:rPr lang="en-US" altLang="ko-KR" sz="1600" dirty="0"/>
              <a:t>;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}</a:t>
            </a:r>
          </a:p>
          <a:p>
            <a:endParaRPr lang="en-US" altLang="ko-KR" sz="1600" dirty="0"/>
          </a:p>
          <a:p>
            <a:r>
              <a:rPr lang="ko-KR" altLang="en-US" sz="1600" dirty="0" smtClean="0"/>
              <a:t>흐름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 smtClean="0"/>
              <a:t>     </a:t>
            </a:r>
            <a:r>
              <a:rPr lang="en-US" altLang="ko-KR" sz="1600" dirty="0" err="1" smtClean="0"/>
              <a:t>int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=</a:t>
            </a:r>
            <a:r>
              <a:rPr lang="en-US" altLang="ko-KR" sz="1600" b="1" dirty="0"/>
              <a:t>1</a:t>
            </a:r>
            <a:r>
              <a:rPr lang="en-US" altLang="ko-KR" sz="1600" dirty="0" smtClean="0"/>
              <a:t>;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</a:t>
            </a:r>
            <a:endParaRPr lang="en-US" altLang="ko-KR" sz="1600" dirty="0"/>
          </a:p>
          <a:p>
            <a:r>
              <a:rPr lang="en-US" altLang="ko-KR" sz="1600" dirty="0" smtClean="0"/>
              <a:t>     switch( 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 ){</a:t>
            </a:r>
          </a:p>
          <a:p>
            <a:r>
              <a:rPr lang="en-US" altLang="ko-KR" sz="1600" dirty="0" smtClean="0"/>
              <a:t>       case </a:t>
            </a:r>
            <a:r>
              <a:rPr lang="en-US" altLang="ko-KR" sz="1600" b="1" dirty="0" smtClean="0"/>
              <a:t>0</a:t>
            </a:r>
            <a:r>
              <a:rPr lang="en-US" altLang="ko-KR" sz="1600" dirty="0" smtClean="0"/>
              <a:t> : </a:t>
            </a:r>
            <a:r>
              <a:rPr lang="en-US" altLang="ko-KR" sz="1600" dirty="0" err="1" smtClean="0"/>
              <a:t>System.out.println</a:t>
            </a:r>
            <a:r>
              <a:rPr lang="en-US" altLang="ko-KR" sz="1600" dirty="0" smtClean="0"/>
              <a:t>(“</a:t>
            </a:r>
            <a:r>
              <a:rPr lang="ko-KR" altLang="en-US" sz="1600" dirty="0" smtClean="0"/>
              <a:t>영</a:t>
            </a:r>
            <a:r>
              <a:rPr lang="en-US" altLang="ko-KR" sz="1600" dirty="0" smtClean="0"/>
              <a:t>”);</a:t>
            </a:r>
          </a:p>
          <a:p>
            <a:r>
              <a:rPr lang="en-US" altLang="ko-KR" sz="1600" dirty="0" smtClean="0"/>
              <a:t>       case </a:t>
            </a:r>
            <a:r>
              <a:rPr lang="en-US" altLang="ko-KR" sz="1600" b="1" dirty="0" smtClean="0"/>
              <a:t>1</a:t>
            </a:r>
            <a:r>
              <a:rPr lang="en-US" altLang="ko-KR" sz="1600" dirty="0" smtClean="0"/>
              <a:t> : </a:t>
            </a:r>
            <a:r>
              <a:rPr lang="en-US" altLang="ko-KR" sz="1600" dirty="0" err="1" smtClean="0"/>
              <a:t>System.out.println</a:t>
            </a:r>
            <a:r>
              <a:rPr lang="en-US" altLang="ko-KR" sz="1600" dirty="0" smtClean="0"/>
              <a:t>(“</a:t>
            </a:r>
            <a:r>
              <a:rPr lang="ko-KR" altLang="en-US" sz="1600" dirty="0"/>
              <a:t>일</a:t>
            </a:r>
            <a:r>
              <a:rPr lang="en-US" altLang="ko-KR" sz="1600" dirty="0" smtClean="0"/>
              <a:t>”);</a:t>
            </a:r>
          </a:p>
          <a:p>
            <a:r>
              <a:rPr lang="en-US" altLang="ko-KR" sz="1600" dirty="0" smtClean="0"/>
              <a:t>       case </a:t>
            </a:r>
            <a:r>
              <a:rPr lang="en-US" altLang="ko-KR" sz="1600" b="1" dirty="0" smtClean="0"/>
              <a:t>2</a:t>
            </a:r>
            <a:r>
              <a:rPr lang="en-US" altLang="ko-KR" sz="1600" dirty="0" smtClean="0"/>
              <a:t> : </a:t>
            </a:r>
            <a:r>
              <a:rPr lang="en-US" altLang="ko-KR" sz="1600" dirty="0" err="1" smtClean="0"/>
              <a:t>System.out.println</a:t>
            </a:r>
            <a:r>
              <a:rPr lang="en-US" altLang="ko-KR" sz="1600" dirty="0" smtClean="0"/>
              <a:t>(“</a:t>
            </a:r>
            <a:r>
              <a:rPr lang="ko-KR" altLang="en-US" sz="1600" dirty="0"/>
              <a:t>이</a:t>
            </a:r>
            <a:r>
              <a:rPr lang="en-US" altLang="ko-KR" sz="1600" dirty="0" smtClean="0"/>
              <a:t>”);</a:t>
            </a:r>
          </a:p>
          <a:p>
            <a:r>
              <a:rPr lang="en-US" altLang="ko-KR" sz="1600" dirty="0" smtClean="0"/>
              <a:t>       default : </a:t>
            </a:r>
            <a:r>
              <a:rPr lang="en-US" altLang="ko-KR" sz="1600" dirty="0" err="1" smtClean="0"/>
              <a:t>System.out.println</a:t>
            </a:r>
            <a:r>
              <a:rPr lang="en-US" altLang="ko-KR" sz="1600" dirty="0" smtClean="0"/>
              <a:t>(“</a:t>
            </a:r>
            <a:r>
              <a:rPr lang="ko-KR" altLang="en-US" sz="1600" dirty="0" smtClean="0"/>
              <a:t>해당케이스 없음</a:t>
            </a:r>
            <a:r>
              <a:rPr lang="en-US" altLang="ko-KR" sz="1600" dirty="0" smtClean="0"/>
              <a:t>.”);</a:t>
            </a:r>
            <a:endParaRPr lang="en-US" altLang="ko-KR" sz="1600" dirty="0"/>
          </a:p>
          <a:p>
            <a:r>
              <a:rPr lang="en-US" altLang="ko-KR" sz="1600" dirty="0" smtClean="0"/>
              <a:t>     } </a:t>
            </a:r>
            <a:endParaRPr lang="ko-KR" altLang="en-US" sz="1600" dirty="0"/>
          </a:p>
        </p:txBody>
      </p:sp>
      <p:sp>
        <p:nvSpPr>
          <p:cNvPr id="3" name="자유형 2"/>
          <p:cNvSpPr/>
          <p:nvPr/>
        </p:nvSpPr>
        <p:spPr>
          <a:xfrm>
            <a:off x="1327150" y="723557"/>
            <a:ext cx="323850" cy="1592266"/>
          </a:xfrm>
          <a:custGeom>
            <a:avLst/>
            <a:gdLst>
              <a:gd name="connsiteX0" fmla="*/ 323850 w 323850"/>
              <a:gd name="connsiteY0" fmla="*/ 343 h 1592266"/>
              <a:gd name="connsiteX1" fmla="*/ 241300 w 323850"/>
              <a:gd name="connsiteY1" fmla="*/ 6693 h 1592266"/>
              <a:gd name="connsiteX2" fmla="*/ 222250 w 323850"/>
              <a:gd name="connsiteY2" fmla="*/ 25743 h 1592266"/>
              <a:gd name="connsiteX3" fmla="*/ 171450 w 323850"/>
              <a:gd name="connsiteY3" fmla="*/ 89243 h 1592266"/>
              <a:gd name="connsiteX4" fmla="*/ 152400 w 323850"/>
              <a:gd name="connsiteY4" fmla="*/ 127343 h 1592266"/>
              <a:gd name="connsiteX5" fmla="*/ 127000 w 323850"/>
              <a:gd name="connsiteY5" fmla="*/ 171793 h 1592266"/>
              <a:gd name="connsiteX6" fmla="*/ 120650 w 323850"/>
              <a:gd name="connsiteY6" fmla="*/ 190843 h 1592266"/>
              <a:gd name="connsiteX7" fmla="*/ 107950 w 323850"/>
              <a:gd name="connsiteY7" fmla="*/ 209893 h 1592266"/>
              <a:gd name="connsiteX8" fmla="*/ 82550 w 323850"/>
              <a:gd name="connsiteY8" fmla="*/ 260693 h 1592266"/>
              <a:gd name="connsiteX9" fmla="*/ 63500 w 323850"/>
              <a:gd name="connsiteY9" fmla="*/ 311493 h 1592266"/>
              <a:gd name="connsiteX10" fmla="*/ 57150 w 323850"/>
              <a:gd name="connsiteY10" fmla="*/ 330543 h 1592266"/>
              <a:gd name="connsiteX11" fmla="*/ 50800 w 323850"/>
              <a:gd name="connsiteY11" fmla="*/ 355943 h 1592266"/>
              <a:gd name="connsiteX12" fmla="*/ 38100 w 323850"/>
              <a:gd name="connsiteY12" fmla="*/ 374993 h 1592266"/>
              <a:gd name="connsiteX13" fmla="*/ 25400 w 323850"/>
              <a:gd name="connsiteY13" fmla="*/ 444843 h 1592266"/>
              <a:gd name="connsiteX14" fmla="*/ 12700 w 323850"/>
              <a:gd name="connsiteY14" fmla="*/ 495643 h 1592266"/>
              <a:gd name="connsiteX15" fmla="*/ 0 w 323850"/>
              <a:gd name="connsiteY15" fmla="*/ 540093 h 1592266"/>
              <a:gd name="connsiteX16" fmla="*/ 19050 w 323850"/>
              <a:gd name="connsiteY16" fmla="*/ 711543 h 1592266"/>
              <a:gd name="connsiteX17" fmla="*/ 25400 w 323850"/>
              <a:gd name="connsiteY17" fmla="*/ 743293 h 1592266"/>
              <a:gd name="connsiteX18" fmla="*/ 44450 w 323850"/>
              <a:gd name="connsiteY18" fmla="*/ 775043 h 1592266"/>
              <a:gd name="connsiteX19" fmla="*/ 63500 w 323850"/>
              <a:gd name="connsiteY19" fmla="*/ 819493 h 1592266"/>
              <a:gd name="connsiteX20" fmla="*/ 88900 w 323850"/>
              <a:gd name="connsiteY20" fmla="*/ 876643 h 1592266"/>
              <a:gd name="connsiteX21" fmla="*/ 101600 w 323850"/>
              <a:gd name="connsiteY21" fmla="*/ 940143 h 1592266"/>
              <a:gd name="connsiteX22" fmla="*/ 107950 w 323850"/>
              <a:gd name="connsiteY22" fmla="*/ 965543 h 1592266"/>
              <a:gd name="connsiteX23" fmla="*/ 114300 w 323850"/>
              <a:gd name="connsiteY23" fmla="*/ 1003643 h 1592266"/>
              <a:gd name="connsiteX24" fmla="*/ 139700 w 323850"/>
              <a:gd name="connsiteY24" fmla="*/ 1073493 h 1592266"/>
              <a:gd name="connsiteX25" fmla="*/ 158750 w 323850"/>
              <a:gd name="connsiteY25" fmla="*/ 1251293 h 1592266"/>
              <a:gd name="connsiteX26" fmla="*/ 152400 w 323850"/>
              <a:gd name="connsiteY26" fmla="*/ 1454493 h 1592266"/>
              <a:gd name="connsiteX27" fmla="*/ 146050 w 323850"/>
              <a:gd name="connsiteY27" fmla="*/ 1511643 h 1592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23850" h="1592266">
                <a:moveTo>
                  <a:pt x="323850" y="343"/>
                </a:moveTo>
                <a:cubicBezTo>
                  <a:pt x="296333" y="2460"/>
                  <a:pt x="268074" y="0"/>
                  <a:pt x="241300" y="6693"/>
                </a:cubicBezTo>
                <a:cubicBezTo>
                  <a:pt x="232588" y="8871"/>
                  <a:pt x="227763" y="18654"/>
                  <a:pt x="222250" y="25743"/>
                </a:cubicBezTo>
                <a:cubicBezTo>
                  <a:pt x="166177" y="97837"/>
                  <a:pt x="226495" y="34198"/>
                  <a:pt x="171450" y="89243"/>
                </a:cubicBezTo>
                <a:cubicBezTo>
                  <a:pt x="155489" y="137126"/>
                  <a:pt x="177019" y="78104"/>
                  <a:pt x="152400" y="127343"/>
                </a:cubicBezTo>
                <a:cubicBezTo>
                  <a:pt x="128158" y="175827"/>
                  <a:pt x="173064" y="110374"/>
                  <a:pt x="127000" y="171793"/>
                </a:cubicBezTo>
                <a:cubicBezTo>
                  <a:pt x="124883" y="178143"/>
                  <a:pt x="123643" y="184856"/>
                  <a:pt x="120650" y="190843"/>
                </a:cubicBezTo>
                <a:cubicBezTo>
                  <a:pt x="117237" y="197669"/>
                  <a:pt x="110956" y="202878"/>
                  <a:pt x="107950" y="209893"/>
                </a:cubicBezTo>
                <a:cubicBezTo>
                  <a:pt x="84172" y="265376"/>
                  <a:pt x="124858" y="204282"/>
                  <a:pt x="82550" y="260693"/>
                </a:cubicBezTo>
                <a:cubicBezTo>
                  <a:pt x="70843" y="307522"/>
                  <a:pt x="83424" y="265005"/>
                  <a:pt x="63500" y="311493"/>
                </a:cubicBezTo>
                <a:cubicBezTo>
                  <a:pt x="60863" y="317645"/>
                  <a:pt x="58989" y="324107"/>
                  <a:pt x="57150" y="330543"/>
                </a:cubicBezTo>
                <a:cubicBezTo>
                  <a:pt x="54752" y="338934"/>
                  <a:pt x="54238" y="347921"/>
                  <a:pt x="50800" y="355943"/>
                </a:cubicBezTo>
                <a:cubicBezTo>
                  <a:pt x="47794" y="362958"/>
                  <a:pt x="42333" y="368643"/>
                  <a:pt x="38100" y="374993"/>
                </a:cubicBezTo>
                <a:cubicBezTo>
                  <a:pt x="34211" y="398330"/>
                  <a:pt x="30725" y="421768"/>
                  <a:pt x="25400" y="444843"/>
                </a:cubicBezTo>
                <a:cubicBezTo>
                  <a:pt x="21475" y="461850"/>
                  <a:pt x="16933" y="478710"/>
                  <a:pt x="12700" y="495643"/>
                </a:cubicBezTo>
                <a:cubicBezTo>
                  <a:pt x="4727" y="527537"/>
                  <a:pt x="9110" y="512764"/>
                  <a:pt x="0" y="540093"/>
                </a:cubicBezTo>
                <a:cubicBezTo>
                  <a:pt x="9173" y="636407"/>
                  <a:pt x="6728" y="643775"/>
                  <a:pt x="19050" y="711543"/>
                </a:cubicBezTo>
                <a:cubicBezTo>
                  <a:pt x="20981" y="722162"/>
                  <a:pt x="21392" y="733272"/>
                  <a:pt x="25400" y="743293"/>
                </a:cubicBezTo>
                <a:cubicBezTo>
                  <a:pt x="29984" y="754752"/>
                  <a:pt x="38100" y="764460"/>
                  <a:pt x="44450" y="775043"/>
                </a:cubicBezTo>
                <a:cubicBezTo>
                  <a:pt x="61248" y="842234"/>
                  <a:pt x="38441" y="763111"/>
                  <a:pt x="63500" y="819493"/>
                </a:cubicBezTo>
                <a:cubicBezTo>
                  <a:pt x="93727" y="887503"/>
                  <a:pt x="60158" y="833530"/>
                  <a:pt x="88900" y="876643"/>
                </a:cubicBezTo>
                <a:cubicBezTo>
                  <a:pt x="93133" y="897810"/>
                  <a:pt x="96365" y="919202"/>
                  <a:pt x="101600" y="940143"/>
                </a:cubicBezTo>
                <a:cubicBezTo>
                  <a:pt x="103717" y="948610"/>
                  <a:pt x="106238" y="956985"/>
                  <a:pt x="107950" y="965543"/>
                </a:cubicBezTo>
                <a:cubicBezTo>
                  <a:pt x="110475" y="978168"/>
                  <a:pt x="110514" y="991337"/>
                  <a:pt x="114300" y="1003643"/>
                </a:cubicBezTo>
                <a:cubicBezTo>
                  <a:pt x="133316" y="1065444"/>
                  <a:pt x="131320" y="1027403"/>
                  <a:pt x="139700" y="1073493"/>
                </a:cubicBezTo>
                <a:cubicBezTo>
                  <a:pt x="148565" y="1122252"/>
                  <a:pt x="155966" y="1222057"/>
                  <a:pt x="158750" y="1251293"/>
                </a:cubicBezTo>
                <a:cubicBezTo>
                  <a:pt x="156633" y="1319026"/>
                  <a:pt x="155623" y="1386803"/>
                  <a:pt x="152400" y="1454493"/>
                </a:cubicBezTo>
                <a:cubicBezTo>
                  <a:pt x="145839" y="1592266"/>
                  <a:pt x="146050" y="1532084"/>
                  <a:pt x="146050" y="1511643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14414" y="1785926"/>
            <a:ext cx="25577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/>
              <a:t>byte</a:t>
            </a:r>
            <a:r>
              <a:rPr lang="en-US" altLang="ko-KR" sz="1200" dirty="0" smtClean="0"/>
              <a:t>, </a:t>
            </a:r>
            <a:r>
              <a:rPr lang="en-US" altLang="ko-KR" sz="1200" b="1" dirty="0" smtClean="0"/>
              <a:t>short</a:t>
            </a:r>
            <a:r>
              <a:rPr lang="en-US" altLang="ko-KR" sz="1200" dirty="0" smtClean="0"/>
              <a:t>, </a:t>
            </a:r>
            <a:r>
              <a:rPr lang="en-US" altLang="ko-KR" sz="1200" b="1" dirty="0" err="1" smtClean="0"/>
              <a:t>int</a:t>
            </a:r>
            <a:r>
              <a:rPr lang="en-US" altLang="ko-KR" sz="1200" dirty="0" smtClean="0"/>
              <a:t>, long, </a:t>
            </a:r>
            <a:r>
              <a:rPr lang="en-US" altLang="ko-KR" sz="1200" b="1" dirty="0" smtClean="0"/>
              <a:t>char</a:t>
            </a:r>
            <a:r>
              <a:rPr lang="en-US" altLang="ko-KR" sz="1200" dirty="0" smtClean="0"/>
              <a:t>, String</a:t>
            </a:r>
            <a:endParaRPr lang="ko-KR" altLang="en-US" sz="1200" dirty="0"/>
          </a:p>
        </p:txBody>
      </p:sp>
      <p:sp>
        <p:nvSpPr>
          <p:cNvPr id="6" name="자유형 5"/>
          <p:cNvSpPr/>
          <p:nvPr/>
        </p:nvSpPr>
        <p:spPr>
          <a:xfrm>
            <a:off x="3343682" y="985811"/>
            <a:ext cx="1646637" cy="938524"/>
          </a:xfrm>
          <a:custGeom>
            <a:avLst/>
            <a:gdLst>
              <a:gd name="connsiteX0" fmla="*/ 1641068 w 1646637"/>
              <a:gd name="connsiteY0" fmla="*/ 11139 h 938524"/>
              <a:gd name="connsiteX1" fmla="*/ 1622018 w 1646637"/>
              <a:gd name="connsiteY1" fmla="*/ 49239 h 938524"/>
              <a:gd name="connsiteX2" fmla="*/ 1602968 w 1646637"/>
              <a:gd name="connsiteY2" fmla="*/ 93689 h 938524"/>
              <a:gd name="connsiteX3" fmla="*/ 1583918 w 1646637"/>
              <a:gd name="connsiteY3" fmla="*/ 119089 h 938524"/>
              <a:gd name="connsiteX4" fmla="*/ 1571218 w 1646637"/>
              <a:gd name="connsiteY4" fmla="*/ 144489 h 938524"/>
              <a:gd name="connsiteX5" fmla="*/ 1552168 w 1646637"/>
              <a:gd name="connsiteY5" fmla="*/ 169889 h 938524"/>
              <a:gd name="connsiteX6" fmla="*/ 1539468 w 1646637"/>
              <a:gd name="connsiteY6" fmla="*/ 188939 h 938524"/>
              <a:gd name="connsiteX7" fmla="*/ 1501368 w 1646637"/>
              <a:gd name="connsiteY7" fmla="*/ 214339 h 938524"/>
              <a:gd name="connsiteX8" fmla="*/ 1488668 w 1646637"/>
              <a:gd name="connsiteY8" fmla="*/ 233389 h 938524"/>
              <a:gd name="connsiteX9" fmla="*/ 1463268 w 1646637"/>
              <a:gd name="connsiteY9" fmla="*/ 246089 h 938524"/>
              <a:gd name="connsiteX10" fmla="*/ 1425168 w 1646637"/>
              <a:gd name="connsiteY10" fmla="*/ 271489 h 938524"/>
              <a:gd name="connsiteX11" fmla="*/ 1406118 w 1646637"/>
              <a:gd name="connsiteY11" fmla="*/ 284189 h 938524"/>
              <a:gd name="connsiteX12" fmla="*/ 1355318 w 1646637"/>
              <a:gd name="connsiteY12" fmla="*/ 309589 h 938524"/>
              <a:gd name="connsiteX13" fmla="*/ 1310868 w 1646637"/>
              <a:gd name="connsiteY13" fmla="*/ 334989 h 938524"/>
              <a:gd name="connsiteX14" fmla="*/ 1272768 w 1646637"/>
              <a:gd name="connsiteY14" fmla="*/ 347689 h 938524"/>
              <a:gd name="connsiteX15" fmla="*/ 1234668 w 1646637"/>
              <a:gd name="connsiteY15" fmla="*/ 360389 h 938524"/>
              <a:gd name="connsiteX16" fmla="*/ 1139418 w 1646637"/>
              <a:gd name="connsiteY16" fmla="*/ 366739 h 938524"/>
              <a:gd name="connsiteX17" fmla="*/ 1101318 w 1646637"/>
              <a:gd name="connsiteY17" fmla="*/ 373089 h 938524"/>
              <a:gd name="connsiteX18" fmla="*/ 1050518 w 1646637"/>
              <a:gd name="connsiteY18" fmla="*/ 385789 h 938524"/>
              <a:gd name="connsiteX19" fmla="*/ 961618 w 1646637"/>
              <a:gd name="connsiteY19" fmla="*/ 392139 h 938524"/>
              <a:gd name="connsiteX20" fmla="*/ 936218 w 1646637"/>
              <a:gd name="connsiteY20" fmla="*/ 398489 h 938524"/>
              <a:gd name="connsiteX21" fmla="*/ 904468 w 1646637"/>
              <a:gd name="connsiteY21" fmla="*/ 411189 h 938524"/>
              <a:gd name="connsiteX22" fmla="*/ 866368 w 1646637"/>
              <a:gd name="connsiteY22" fmla="*/ 417539 h 938524"/>
              <a:gd name="connsiteX23" fmla="*/ 847318 w 1646637"/>
              <a:gd name="connsiteY23" fmla="*/ 423889 h 938524"/>
              <a:gd name="connsiteX24" fmla="*/ 821918 w 1646637"/>
              <a:gd name="connsiteY24" fmla="*/ 430239 h 938524"/>
              <a:gd name="connsiteX25" fmla="*/ 796518 w 1646637"/>
              <a:gd name="connsiteY25" fmla="*/ 442939 h 938524"/>
              <a:gd name="connsiteX26" fmla="*/ 739368 w 1646637"/>
              <a:gd name="connsiteY26" fmla="*/ 461989 h 938524"/>
              <a:gd name="connsiteX27" fmla="*/ 707618 w 1646637"/>
              <a:gd name="connsiteY27" fmla="*/ 481039 h 938524"/>
              <a:gd name="connsiteX28" fmla="*/ 644118 w 1646637"/>
              <a:gd name="connsiteY28" fmla="*/ 506439 h 938524"/>
              <a:gd name="connsiteX29" fmla="*/ 612368 w 1646637"/>
              <a:gd name="connsiteY29" fmla="*/ 525489 h 938524"/>
              <a:gd name="connsiteX30" fmla="*/ 593318 w 1646637"/>
              <a:gd name="connsiteY30" fmla="*/ 538189 h 938524"/>
              <a:gd name="connsiteX31" fmla="*/ 555218 w 1646637"/>
              <a:gd name="connsiteY31" fmla="*/ 557239 h 938524"/>
              <a:gd name="connsiteX32" fmla="*/ 510768 w 1646637"/>
              <a:gd name="connsiteY32" fmla="*/ 569939 h 938524"/>
              <a:gd name="connsiteX33" fmla="*/ 472668 w 1646637"/>
              <a:gd name="connsiteY33" fmla="*/ 582639 h 938524"/>
              <a:gd name="connsiteX34" fmla="*/ 415518 w 1646637"/>
              <a:gd name="connsiteY34" fmla="*/ 608039 h 938524"/>
              <a:gd name="connsiteX35" fmla="*/ 396468 w 1646637"/>
              <a:gd name="connsiteY35" fmla="*/ 620739 h 938524"/>
              <a:gd name="connsiteX36" fmla="*/ 377418 w 1646637"/>
              <a:gd name="connsiteY36" fmla="*/ 627089 h 938524"/>
              <a:gd name="connsiteX37" fmla="*/ 358368 w 1646637"/>
              <a:gd name="connsiteY37" fmla="*/ 639789 h 938524"/>
              <a:gd name="connsiteX38" fmla="*/ 288518 w 1646637"/>
              <a:gd name="connsiteY38" fmla="*/ 658839 h 938524"/>
              <a:gd name="connsiteX39" fmla="*/ 269468 w 1646637"/>
              <a:gd name="connsiteY39" fmla="*/ 671539 h 938524"/>
              <a:gd name="connsiteX40" fmla="*/ 212318 w 1646637"/>
              <a:gd name="connsiteY40" fmla="*/ 703289 h 938524"/>
              <a:gd name="connsiteX41" fmla="*/ 193268 w 1646637"/>
              <a:gd name="connsiteY41" fmla="*/ 722339 h 938524"/>
              <a:gd name="connsiteX42" fmla="*/ 161518 w 1646637"/>
              <a:gd name="connsiteY42" fmla="*/ 741389 h 938524"/>
              <a:gd name="connsiteX43" fmla="*/ 123418 w 1646637"/>
              <a:gd name="connsiteY43" fmla="*/ 766789 h 938524"/>
              <a:gd name="connsiteX44" fmla="*/ 91668 w 1646637"/>
              <a:gd name="connsiteY44" fmla="*/ 811239 h 938524"/>
              <a:gd name="connsiteX45" fmla="*/ 72618 w 1646637"/>
              <a:gd name="connsiteY45" fmla="*/ 830289 h 938524"/>
              <a:gd name="connsiteX46" fmla="*/ 47218 w 1646637"/>
              <a:gd name="connsiteY46" fmla="*/ 868389 h 938524"/>
              <a:gd name="connsiteX47" fmla="*/ 40868 w 1646637"/>
              <a:gd name="connsiteY47" fmla="*/ 887439 h 938524"/>
              <a:gd name="connsiteX48" fmla="*/ 15468 w 1646637"/>
              <a:gd name="connsiteY48" fmla="*/ 912839 h 938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646637" h="938524">
                <a:moveTo>
                  <a:pt x="1641068" y="11139"/>
                </a:moveTo>
                <a:cubicBezTo>
                  <a:pt x="1625107" y="59022"/>
                  <a:pt x="1646637" y="0"/>
                  <a:pt x="1622018" y="49239"/>
                </a:cubicBezTo>
                <a:cubicBezTo>
                  <a:pt x="1600413" y="92449"/>
                  <a:pt x="1636002" y="40835"/>
                  <a:pt x="1602968" y="93689"/>
                </a:cubicBezTo>
                <a:cubicBezTo>
                  <a:pt x="1597359" y="102664"/>
                  <a:pt x="1589527" y="110114"/>
                  <a:pt x="1583918" y="119089"/>
                </a:cubicBezTo>
                <a:cubicBezTo>
                  <a:pt x="1578901" y="127116"/>
                  <a:pt x="1576235" y="136462"/>
                  <a:pt x="1571218" y="144489"/>
                </a:cubicBezTo>
                <a:cubicBezTo>
                  <a:pt x="1565609" y="153464"/>
                  <a:pt x="1558319" y="161277"/>
                  <a:pt x="1552168" y="169889"/>
                </a:cubicBezTo>
                <a:cubicBezTo>
                  <a:pt x="1547732" y="176099"/>
                  <a:pt x="1545211" y="183913"/>
                  <a:pt x="1539468" y="188939"/>
                </a:cubicBezTo>
                <a:cubicBezTo>
                  <a:pt x="1527981" y="198990"/>
                  <a:pt x="1501368" y="214339"/>
                  <a:pt x="1501368" y="214339"/>
                </a:cubicBezTo>
                <a:cubicBezTo>
                  <a:pt x="1497135" y="220689"/>
                  <a:pt x="1494531" y="228503"/>
                  <a:pt x="1488668" y="233389"/>
                </a:cubicBezTo>
                <a:cubicBezTo>
                  <a:pt x="1481396" y="239449"/>
                  <a:pt x="1471385" y="241219"/>
                  <a:pt x="1463268" y="246089"/>
                </a:cubicBezTo>
                <a:cubicBezTo>
                  <a:pt x="1450180" y="253942"/>
                  <a:pt x="1437868" y="263022"/>
                  <a:pt x="1425168" y="271489"/>
                </a:cubicBezTo>
                <a:cubicBezTo>
                  <a:pt x="1418818" y="275722"/>
                  <a:pt x="1412944" y="280776"/>
                  <a:pt x="1406118" y="284189"/>
                </a:cubicBezTo>
                <a:cubicBezTo>
                  <a:pt x="1389185" y="292656"/>
                  <a:pt x="1371070" y="299087"/>
                  <a:pt x="1355318" y="309589"/>
                </a:cubicBezTo>
                <a:cubicBezTo>
                  <a:pt x="1338135" y="321044"/>
                  <a:pt x="1331009" y="326932"/>
                  <a:pt x="1310868" y="334989"/>
                </a:cubicBezTo>
                <a:cubicBezTo>
                  <a:pt x="1298439" y="339961"/>
                  <a:pt x="1285468" y="343456"/>
                  <a:pt x="1272768" y="347689"/>
                </a:cubicBezTo>
                <a:cubicBezTo>
                  <a:pt x="1260068" y="351922"/>
                  <a:pt x="1248025" y="359499"/>
                  <a:pt x="1234668" y="360389"/>
                </a:cubicBezTo>
                <a:lnTo>
                  <a:pt x="1139418" y="366739"/>
                </a:lnTo>
                <a:cubicBezTo>
                  <a:pt x="1126718" y="368856"/>
                  <a:pt x="1113907" y="370391"/>
                  <a:pt x="1101318" y="373089"/>
                </a:cubicBezTo>
                <a:cubicBezTo>
                  <a:pt x="1084251" y="376746"/>
                  <a:pt x="1067812" y="383431"/>
                  <a:pt x="1050518" y="385789"/>
                </a:cubicBezTo>
                <a:cubicBezTo>
                  <a:pt x="1021082" y="389803"/>
                  <a:pt x="991251" y="390022"/>
                  <a:pt x="961618" y="392139"/>
                </a:cubicBezTo>
                <a:cubicBezTo>
                  <a:pt x="953151" y="394256"/>
                  <a:pt x="944497" y="395729"/>
                  <a:pt x="936218" y="398489"/>
                </a:cubicBezTo>
                <a:cubicBezTo>
                  <a:pt x="925404" y="402094"/>
                  <a:pt x="915465" y="408190"/>
                  <a:pt x="904468" y="411189"/>
                </a:cubicBezTo>
                <a:cubicBezTo>
                  <a:pt x="892046" y="414577"/>
                  <a:pt x="878937" y="414746"/>
                  <a:pt x="866368" y="417539"/>
                </a:cubicBezTo>
                <a:cubicBezTo>
                  <a:pt x="859834" y="418991"/>
                  <a:pt x="853754" y="422050"/>
                  <a:pt x="847318" y="423889"/>
                </a:cubicBezTo>
                <a:cubicBezTo>
                  <a:pt x="838927" y="426287"/>
                  <a:pt x="830090" y="427175"/>
                  <a:pt x="821918" y="430239"/>
                </a:cubicBezTo>
                <a:cubicBezTo>
                  <a:pt x="813055" y="433563"/>
                  <a:pt x="805168" y="439094"/>
                  <a:pt x="796518" y="442939"/>
                </a:cubicBezTo>
                <a:cubicBezTo>
                  <a:pt x="765774" y="456603"/>
                  <a:pt x="768852" y="454618"/>
                  <a:pt x="739368" y="461989"/>
                </a:cubicBezTo>
                <a:cubicBezTo>
                  <a:pt x="728785" y="468339"/>
                  <a:pt x="718854" y="475932"/>
                  <a:pt x="707618" y="481039"/>
                </a:cubicBezTo>
                <a:cubicBezTo>
                  <a:pt x="633111" y="514906"/>
                  <a:pt x="700885" y="474902"/>
                  <a:pt x="644118" y="506439"/>
                </a:cubicBezTo>
                <a:cubicBezTo>
                  <a:pt x="633329" y="512433"/>
                  <a:pt x="622834" y="518948"/>
                  <a:pt x="612368" y="525489"/>
                </a:cubicBezTo>
                <a:cubicBezTo>
                  <a:pt x="605896" y="529534"/>
                  <a:pt x="599989" y="534483"/>
                  <a:pt x="593318" y="538189"/>
                </a:cubicBezTo>
                <a:cubicBezTo>
                  <a:pt x="580906" y="545085"/>
                  <a:pt x="568193" y="551472"/>
                  <a:pt x="555218" y="557239"/>
                </a:cubicBezTo>
                <a:cubicBezTo>
                  <a:pt x="540444" y="563805"/>
                  <a:pt x="526292" y="565282"/>
                  <a:pt x="510768" y="569939"/>
                </a:cubicBezTo>
                <a:cubicBezTo>
                  <a:pt x="497946" y="573786"/>
                  <a:pt x="472668" y="582639"/>
                  <a:pt x="472668" y="582639"/>
                </a:cubicBezTo>
                <a:cubicBezTo>
                  <a:pt x="419356" y="622623"/>
                  <a:pt x="477305" y="584869"/>
                  <a:pt x="415518" y="608039"/>
                </a:cubicBezTo>
                <a:cubicBezTo>
                  <a:pt x="408372" y="610719"/>
                  <a:pt x="403294" y="617326"/>
                  <a:pt x="396468" y="620739"/>
                </a:cubicBezTo>
                <a:cubicBezTo>
                  <a:pt x="390481" y="623732"/>
                  <a:pt x="383405" y="624096"/>
                  <a:pt x="377418" y="627089"/>
                </a:cubicBezTo>
                <a:cubicBezTo>
                  <a:pt x="370592" y="630502"/>
                  <a:pt x="365342" y="636689"/>
                  <a:pt x="358368" y="639789"/>
                </a:cubicBezTo>
                <a:cubicBezTo>
                  <a:pt x="332001" y="651508"/>
                  <a:pt x="315680" y="653407"/>
                  <a:pt x="288518" y="658839"/>
                </a:cubicBezTo>
                <a:cubicBezTo>
                  <a:pt x="282168" y="663072"/>
                  <a:pt x="276094" y="667753"/>
                  <a:pt x="269468" y="671539"/>
                </a:cubicBezTo>
                <a:cubicBezTo>
                  <a:pt x="244138" y="686014"/>
                  <a:pt x="237701" y="684252"/>
                  <a:pt x="212318" y="703289"/>
                </a:cubicBezTo>
                <a:cubicBezTo>
                  <a:pt x="205134" y="708677"/>
                  <a:pt x="200452" y="716951"/>
                  <a:pt x="193268" y="722339"/>
                </a:cubicBezTo>
                <a:cubicBezTo>
                  <a:pt x="183394" y="729744"/>
                  <a:pt x="171931" y="734763"/>
                  <a:pt x="161518" y="741389"/>
                </a:cubicBezTo>
                <a:cubicBezTo>
                  <a:pt x="148641" y="749584"/>
                  <a:pt x="123418" y="766789"/>
                  <a:pt x="123418" y="766789"/>
                </a:cubicBezTo>
                <a:cubicBezTo>
                  <a:pt x="113367" y="781866"/>
                  <a:pt x="103483" y="797455"/>
                  <a:pt x="91668" y="811239"/>
                </a:cubicBezTo>
                <a:cubicBezTo>
                  <a:pt x="85824" y="818057"/>
                  <a:pt x="78968" y="823939"/>
                  <a:pt x="72618" y="830289"/>
                </a:cubicBezTo>
                <a:cubicBezTo>
                  <a:pt x="57519" y="875585"/>
                  <a:pt x="78929" y="820823"/>
                  <a:pt x="47218" y="868389"/>
                </a:cubicBezTo>
                <a:cubicBezTo>
                  <a:pt x="43505" y="873958"/>
                  <a:pt x="45049" y="882212"/>
                  <a:pt x="40868" y="887439"/>
                </a:cubicBezTo>
                <a:cubicBezTo>
                  <a:pt x="0" y="938524"/>
                  <a:pt x="36320" y="871136"/>
                  <a:pt x="15468" y="912839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 6"/>
          <p:cNvSpPr/>
          <p:nvPr/>
        </p:nvSpPr>
        <p:spPr>
          <a:xfrm>
            <a:off x="914400" y="4311650"/>
            <a:ext cx="273050" cy="152400"/>
          </a:xfrm>
          <a:custGeom>
            <a:avLst/>
            <a:gdLst>
              <a:gd name="connsiteX0" fmla="*/ 273050 w 273050"/>
              <a:gd name="connsiteY0" fmla="*/ 152400 h 152400"/>
              <a:gd name="connsiteX1" fmla="*/ 266700 w 273050"/>
              <a:gd name="connsiteY1" fmla="*/ 133350 h 152400"/>
              <a:gd name="connsiteX2" fmla="*/ 254000 w 273050"/>
              <a:gd name="connsiteY2" fmla="*/ 107950 h 152400"/>
              <a:gd name="connsiteX3" fmla="*/ 247650 w 273050"/>
              <a:gd name="connsiteY3" fmla="*/ 69850 h 152400"/>
              <a:gd name="connsiteX4" fmla="*/ 234950 w 273050"/>
              <a:gd name="connsiteY4" fmla="*/ 44450 h 152400"/>
              <a:gd name="connsiteX5" fmla="*/ 228600 w 273050"/>
              <a:gd name="connsiteY5" fmla="*/ 25400 h 152400"/>
              <a:gd name="connsiteX6" fmla="*/ 203200 w 273050"/>
              <a:gd name="connsiteY6" fmla="*/ 12700 h 152400"/>
              <a:gd name="connsiteX7" fmla="*/ 184150 w 273050"/>
              <a:gd name="connsiteY7" fmla="*/ 0 h 152400"/>
              <a:gd name="connsiteX8" fmla="*/ 120650 w 273050"/>
              <a:gd name="connsiteY8" fmla="*/ 6350 h 152400"/>
              <a:gd name="connsiteX9" fmla="*/ 101600 w 273050"/>
              <a:gd name="connsiteY9" fmla="*/ 12700 h 152400"/>
              <a:gd name="connsiteX10" fmla="*/ 82550 w 273050"/>
              <a:gd name="connsiteY10" fmla="*/ 31750 h 152400"/>
              <a:gd name="connsiteX11" fmla="*/ 44450 w 273050"/>
              <a:gd name="connsiteY11" fmla="*/ 69850 h 152400"/>
              <a:gd name="connsiteX12" fmla="*/ 19050 w 273050"/>
              <a:gd name="connsiteY12" fmla="*/ 107950 h 152400"/>
              <a:gd name="connsiteX13" fmla="*/ 0 w 273050"/>
              <a:gd name="connsiteY13" fmla="*/ 13335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73050" h="152400">
                <a:moveTo>
                  <a:pt x="273050" y="152400"/>
                </a:moveTo>
                <a:cubicBezTo>
                  <a:pt x="270933" y="146050"/>
                  <a:pt x="269337" y="139502"/>
                  <a:pt x="266700" y="133350"/>
                </a:cubicBezTo>
                <a:cubicBezTo>
                  <a:pt x="262971" y="124649"/>
                  <a:pt x="256720" y="117017"/>
                  <a:pt x="254000" y="107950"/>
                </a:cubicBezTo>
                <a:cubicBezTo>
                  <a:pt x="250300" y="95618"/>
                  <a:pt x="251350" y="82182"/>
                  <a:pt x="247650" y="69850"/>
                </a:cubicBezTo>
                <a:cubicBezTo>
                  <a:pt x="244930" y="60783"/>
                  <a:pt x="238679" y="53151"/>
                  <a:pt x="234950" y="44450"/>
                </a:cubicBezTo>
                <a:cubicBezTo>
                  <a:pt x="232313" y="38298"/>
                  <a:pt x="233333" y="30133"/>
                  <a:pt x="228600" y="25400"/>
                </a:cubicBezTo>
                <a:cubicBezTo>
                  <a:pt x="221907" y="18707"/>
                  <a:pt x="211419" y="17396"/>
                  <a:pt x="203200" y="12700"/>
                </a:cubicBezTo>
                <a:cubicBezTo>
                  <a:pt x="196574" y="8914"/>
                  <a:pt x="190500" y="4233"/>
                  <a:pt x="184150" y="0"/>
                </a:cubicBezTo>
                <a:cubicBezTo>
                  <a:pt x="162983" y="2117"/>
                  <a:pt x="141675" y="3115"/>
                  <a:pt x="120650" y="6350"/>
                </a:cubicBezTo>
                <a:cubicBezTo>
                  <a:pt x="114034" y="7368"/>
                  <a:pt x="107169" y="8987"/>
                  <a:pt x="101600" y="12700"/>
                </a:cubicBezTo>
                <a:cubicBezTo>
                  <a:pt x="94128" y="17681"/>
                  <a:pt x="89449" y="26001"/>
                  <a:pt x="82550" y="31750"/>
                </a:cubicBezTo>
                <a:cubicBezTo>
                  <a:pt x="49621" y="59191"/>
                  <a:pt x="75115" y="26043"/>
                  <a:pt x="44450" y="69850"/>
                </a:cubicBezTo>
                <a:cubicBezTo>
                  <a:pt x="35697" y="82354"/>
                  <a:pt x="27517" y="95250"/>
                  <a:pt x="19050" y="107950"/>
                </a:cubicBezTo>
                <a:cubicBezTo>
                  <a:pt x="4690" y="129491"/>
                  <a:pt x="11746" y="121604"/>
                  <a:pt x="0" y="13335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071538" y="4143380"/>
            <a:ext cx="14285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1. </a:t>
            </a:r>
            <a:r>
              <a:rPr lang="ko-KR" altLang="en-US" sz="1100" dirty="0" smtClean="0"/>
              <a:t>변수에 값이 할당</a:t>
            </a:r>
            <a:endParaRPr lang="ko-KR" altLang="en-US" sz="1100" dirty="0"/>
          </a:p>
        </p:txBody>
      </p:sp>
      <p:sp>
        <p:nvSpPr>
          <p:cNvPr id="9" name="자유형 8"/>
          <p:cNvSpPr/>
          <p:nvPr/>
        </p:nvSpPr>
        <p:spPr>
          <a:xfrm>
            <a:off x="927100" y="4686300"/>
            <a:ext cx="376183" cy="260350"/>
          </a:xfrm>
          <a:custGeom>
            <a:avLst/>
            <a:gdLst>
              <a:gd name="connsiteX0" fmla="*/ 0 w 376183"/>
              <a:gd name="connsiteY0" fmla="*/ 0 h 260350"/>
              <a:gd name="connsiteX1" fmla="*/ 12700 w 376183"/>
              <a:gd name="connsiteY1" fmla="*/ 57150 h 260350"/>
              <a:gd name="connsiteX2" fmla="*/ 31750 w 376183"/>
              <a:gd name="connsiteY2" fmla="*/ 69850 h 260350"/>
              <a:gd name="connsiteX3" fmla="*/ 95250 w 376183"/>
              <a:gd name="connsiteY3" fmla="*/ 88900 h 260350"/>
              <a:gd name="connsiteX4" fmla="*/ 120650 w 376183"/>
              <a:gd name="connsiteY4" fmla="*/ 95250 h 260350"/>
              <a:gd name="connsiteX5" fmla="*/ 228600 w 376183"/>
              <a:gd name="connsiteY5" fmla="*/ 107950 h 260350"/>
              <a:gd name="connsiteX6" fmla="*/ 266700 w 376183"/>
              <a:gd name="connsiteY6" fmla="*/ 114300 h 260350"/>
              <a:gd name="connsiteX7" fmla="*/ 304800 w 376183"/>
              <a:gd name="connsiteY7" fmla="*/ 127000 h 260350"/>
              <a:gd name="connsiteX8" fmla="*/ 323850 w 376183"/>
              <a:gd name="connsiteY8" fmla="*/ 146050 h 260350"/>
              <a:gd name="connsiteX9" fmla="*/ 342900 w 376183"/>
              <a:gd name="connsiteY9" fmla="*/ 152400 h 260350"/>
              <a:gd name="connsiteX10" fmla="*/ 374650 w 376183"/>
              <a:gd name="connsiteY10" fmla="*/ 209550 h 260350"/>
              <a:gd name="connsiteX11" fmla="*/ 374650 w 376183"/>
              <a:gd name="connsiteY11" fmla="*/ 260350 h 26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76183" h="260350">
                <a:moveTo>
                  <a:pt x="0" y="0"/>
                </a:moveTo>
                <a:cubicBezTo>
                  <a:pt x="65" y="390"/>
                  <a:pt x="6118" y="48923"/>
                  <a:pt x="12700" y="57150"/>
                </a:cubicBezTo>
                <a:cubicBezTo>
                  <a:pt x="17468" y="63109"/>
                  <a:pt x="25124" y="66064"/>
                  <a:pt x="31750" y="69850"/>
                </a:cubicBezTo>
                <a:cubicBezTo>
                  <a:pt x="64697" y="88677"/>
                  <a:pt x="53212" y="80492"/>
                  <a:pt x="95250" y="88900"/>
                </a:cubicBezTo>
                <a:cubicBezTo>
                  <a:pt x="103808" y="90612"/>
                  <a:pt x="112042" y="93815"/>
                  <a:pt x="120650" y="95250"/>
                </a:cubicBezTo>
                <a:cubicBezTo>
                  <a:pt x="147184" y="99672"/>
                  <a:pt x="203107" y="104551"/>
                  <a:pt x="228600" y="107950"/>
                </a:cubicBezTo>
                <a:cubicBezTo>
                  <a:pt x="241362" y="109652"/>
                  <a:pt x="254209" y="111177"/>
                  <a:pt x="266700" y="114300"/>
                </a:cubicBezTo>
                <a:cubicBezTo>
                  <a:pt x="279687" y="117547"/>
                  <a:pt x="304800" y="127000"/>
                  <a:pt x="304800" y="127000"/>
                </a:cubicBezTo>
                <a:cubicBezTo>
                  <a:pt x="311150" y="133350"/>
                  <a:pt x="316378" y="141069"/>
                  <a:pt x="323850" y="146050"/>
                </a:cubicBezTo>
                <a:cubicBezTo>
                  <a:pt x="329419" y="149763"/>
                  <a:pt x="338167" y="147667"/>
                  <a:pt x="342900" y="152400"/>
                </a:cubicBezTo>
                <a:cubicBezTo>
                  <a:pt x="350168" y="159668"/>
                  <a:pt x="373053" y="191983"/>
                  <a:pt x="374650" y="209550"/>
                </a:cubicBezTo>
                <a:cubicBezTo>
                  <a:pt x="376183" y="226414"/>
                  <a:pt x="374650" y="243417"/>
                  <a:pt x="374650" y="26035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 9"/>
          <p:cNvSpPr/>
          <p:nvPr/>
        </p:nvSpPr>
        <p:spPr>
          <a:xfrm>
            <a:off x="336550" y="5118100"/>
            <a:ext cx="959145" cy="1193800"/>
          </a:xfrm>
          <a:custGeom>
            <a:avLst/>
            <a:gdLst>
              <a:gd name="connsiteX0" fmla="*/ 946150 w 959145"/>
              <a:gd name="connsiteY0" fmla="*/ 0 h 1193800"/>
              <a:gd name="connsiteX1" fmla="*/ 939800 w 959145"/>
              <a:gd name="connsiteY1" fmla="*/ 19050 h 1193800"/>
              <a:gd name="connsiteX2" fmla="*/ 920750 w 959145"/>
              <a:gd name="connsiteY2" fmla="*/ 31750 h 1193800"/>
              <a:gd name="connsiteX3" fmla="*/ 876300 w 959145"/>
              <a:gd name="connsiteY3" fmla="*/ 50800 h 1193800"/>
              <a:gd name="connsiteX4" fmla="*/ 228600 w 959145"/>
              <a:gd name="connsiteY4" fmla="*/ 44450 h 1193800"/>
              <a:gd name="connsiteX5" fmla="*/ 158750 w 959145"/>
              <a:gd name="connsiteY5" fmla="*/ 63500 h 1193800"/>
              <a:gd name="connsiteX6" fmla="*/ 133350 w 959145"/>
              <a:gd name="connsiteY6" fmla="*/ 76200 h 1193800"/>
              <a:gd name="connsiteX7" fmla="*/ 95250 w 959145"/>
              <a:gd name="connsiteY7" fmla="*/ 88900 h 1193800"/>
              <a:gd name="connsiteX8" fmla="*/ 76200 w 959145"/>
              <a:gd name="connsiteY8" fmla="*/ 95250 h 1193800"/>
              <a:gd name="connsiteX9" fmla="*/ 31750 w 959145"/>
              <a:gd name="connsiteY9" fmla="*/ 133350 h 1193800"/>
              <a:gd name="connsiteX10" fmla="*/ 12700 w 959145"/>
              <a:gd name="connsiteY10" fmla="*/ 171450 h 1193800"/>
              <a:gd name="connsiteX11" fmla="*/ 0 w 959145"/>
              <a:gd name="connsiteY11" fmla="*/ 190500 h 1193800"/>
              <a:gd name="connsiteX12" fmla="*/ 19050 w 959145"/>
              <a:gd name="connsiteY12" fmla="*/ 266700 h 1193800"/>
              <a:gd name="connsiteX13" fmla="*/ 25400 w 959145"/>
              <a:gd name="connsiteY13" fmla="*/ 285750 h 1193800"/>
              <a:gd name="connsiteX14" fmla="*/ 44450 w 959145"/>
              <a:gd name="connsiteY14" fmla="*/ 298450 h 1193800"/>
              <a:gd name="connsiteX15" fmla="*/ 50800 w 959145"/>
              <a:gd name="connsiteY15" fmla="*/ 317500 h 1193800"/>
              <a:gd name="connsiteX16" fmla="*/ 88900 w 959145"/>
              <a:gd name="connsiteY16" fmla="*/ 349250 h 1193800"/>
              <a:gd name="connsiteX17" fmla="*/ 133350 w 959145"/>
              <a:gd name="connsiteY17" fmla="*/ 381000 h 1193800"/>
              <a:gd name="connsiteX18" fmla="*/ 171450 w 959145"/>
              <a:gd name="connsiteY18" fmla="*/ 406400 h 1193800"/>
              <a:gd name="connsiteX19" fmla="*/ 203200 w 959145"/>
              <a:gd name="connsiteY19" fmla="*/ 412750 h 1193800"/>
              <a:gd name="connsiteX20" fmla="*/ 279400 w 959145"/>
              <a:gd name="connsiteY20" fmla="*/ 425450 h 1193800"/>
              <a:gd name="connsiteX21" fmla="*/ 298450 w 959145"/>
              <a:gd name="connsiteY21" fmla="*/ 431800 h 1193800"/>
              <a:gd name="connsiteX22" fmla="*/ 374650 w 959145"/>
              <a:gd name="connsiteY22" fmla="*/ 444500 h 1193800"/>
              <a:gd name="connsiteX23" fmla="*/ 425450 w 959145"/>
              <a:gd name="connsiteY23" fmla="*/ 457200 h 1193800"/>
              <a:gd name="connsiteX24" fmla="*/ 850900 w 959145"/>
              <a:gd name="connsiteY24" fmla="*/ 450850 h 1193800"/>
              <a:gd name="connsiteX25" fmla="*/ 946150 w 959145"/>
              <a:gd name="connsiteY25" fmla="*/ 457200 h 1193800"/>
              <a:gd name="connsiteX26" fmla="*/ 939800 w 959145"/>
              <a:gd name="connsiteY26" fmla="*/ 501650 h 1193800"/>
              <a:gd name="connsiteX27" fmla="*/ 901700 w 959145"/>
              <a:gd name="connsiteY27" fmla="*/ 565150 h 1193800"/>
              <a:gd name="connsiteX28" fmla="*/ 895350 w 959145"/>
              <a:gd name="connsiteY28" fmla="*/ 584200 h 1193800"/>
              <a:gd name="connsiteX29" fmla="*/ 901700 w 959145"/>
              <a:gd name="connsiteY29" fmla="*/ 609600 h 1193800"/>
              <a:gd name="connsiteX30" fmla="*/ 927100 w 959145"/>
              <a:gd name="connsiteY30" fmla="*/ 647700 h 1193800"/>
              <a:gd name="connsiteX31" fmla="*/ 920750 w 959145"/>
              <a:gd name="connsiteY31" fmla="*/ 704850 h 1193800"/>
              <a:gd name="connsiteX32" fmla="*/ 882650 w 959145"/>
              <a:gd name="connsiteY32" fmla="*/ 742950 h 1193800"/>
              <a:gd name="connsiteX33" fmla="*/ 850900 w 959145"/>
              <a:gd name="connsiteY33" fmla="*/ 781050 h 1193800"/>
              <a:gd name="connsiteX34" fmla="*/ 863600 w 959145"/>
              <a:gd name="connsiteY34" fmla="*/ 806450 h 1193800"/>
              <a:gd name="connsiteX35" fmla="*/ 920750 w 959145"/>
              <a:gd name="connsiteY35" fmla="*/ 844550 h 1193800"/>
              <a:gd name="connsiteX36" fmla="*/ 939800 w 959145"/>
              <a:gd name="connsiteY36" fmla="*/ 857250 h 1193800"/>
              <a:gd name="connsiteX37" fmla="*/ 952500 w 959145"/>
              <a:gd name="connsiteY37" fmla="*/ 876300 h 1193800"/>
              <a:gd name="connsiteX38" fmla="*/ 946150 w 959145"/>
              <a:gd name="connsiteY38" fmla="*/ 927100 h 1193800"/>
              <a:gd name="connsiteX39" fmla="*/ 920750 w 959145"/>
              <a:gd name="connsiteY39" fmla="*/ 965200 h 1193800"/>
              <a:gd name="connsiteX40" fmla="*/ 901700 w 959145"/>
              <a:gd name="connsiteY40" fmla="*/ 1009650 h 1193800"/>
              <a:gd name="connsiteX41" fmla="*/ 914400 w 959145"/>
              <a:gd name="connsiteY41" fmla="*/ 1098550 h 1193800"/>
              <a:gd name="connsiteX42" fmla="*/ 920750 w 959145"/>
              <a:gd name="connsiteY42" fmla="*/ 1117600 h 1193800"/>
              <a:gd name="connsiteX43" fmla="*/ 933450 w 959145"/>
              <a:gd name="connsiteY43" fmla="*/ 1136650 h 1193800"/>
              <a:gd name="connsiteX44" fmla="*/ 946150 w 959145"/>
              <a:gd name="connsiteY44" fmla="*/ 1174750 h 1193800"/>
              <a:gd name="connsiteX45" fmla="*/ 939800 w 959145"/>
              <a:gd name="connsiteY45" fmla="*/ 1193800 h 119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959145" h="1193800">
                <a:moveTo>
                  <a:pt x="946150" y="0"/>
                </a:moveTo>
                <a:cubicBezTo>
                  <a:pt x="944033" y="6350"/>
                  <a:pt x="943981" y="13823"/>
                  <a:pt x="939800" y="19050"/>
                </a:cubicBezTo>
                <a:cubicBezTo>
                  <a:pt x="935032" y="25009"/>
                  <a:pt x="927376" y="27964"/>
                  <a:pt x="920750" y="31750"/>
                </a:cubicBezTo>
                <a:cubicBezTo>
                  <a:pt x="898779" y="44305"/>
                  <a:pt x="897672" y="43676"/>
                  <a:pt x="876300" y="50800"/>
                </a:cubicBezTo>
                <a:cubicBezTo>
                  <a:pt x="543090" y="34546"/>
                  <a:pt x="619416" y="32607"/>
                  <a:pt x="228600" y="44450"/>
                </a:cubicBezTo>
                <a:cubicBezTo>
                  <a:pt x="213765" y="44900"/>
                  <a:pt x="169826" y="57962"/>
                  <a:pt x="158750" y="63500"/>
                </a:cubicBezTo>
                <a:cubicBezTo>
                  <a:pt x="150283" y="67733"/>
                  <a:pt x="142139" y="72684"/>
                  <a:pt x="133350" y="76200"/>
                </a:cubicBezTo>
                <a:cubicBezTo>
                  <a:pt x="120921" y="81172"/>
                  <a:pt x="107950" y="84667"/>
                  <a:pt x="95250" y="88900"/>
                </a:cubicBezTo>
                <a:lnTo>
                  <a:pt x="76200" y="95250"/>
                </a:lnTo>
                <a:cubicBezTo>
                  <a:pt x="57514" y="109265"/>
                  <a:pt x="46491" y="115661"/>
                  <a:pt x="31750" y="133350"/>
                </a:cubicBezTo>
                <a:cubicBezTo>
                  <a:pt x="9002" y="160647"/>
                  <a:pt x="27019" y="142811"/>
                  <a:pt x="12700" y="171450"/>
                </a:cubicBezTo>
                <a:cubicBezTo>
                  <a:pt x="9287" y="178276"/>
                  <a:pt x="4233" y="184150"/>
                  <a:pt x="0" y="190500"/>
                </a:cubicBezTo>
                <a:cubicBezTo>
                  <a:pt x="8551" y="241805"/>
                  <a:pt x="2279" y="216386"/>
                  <a:pt x="19050" y="266700"/>
                </a:cubicBezTo>
                <a:cubicBezTo>
                  <a:pt x="21167" y="273050"/>
                  <a:pt x="19831" y="282037"/>
                  <a:pt x="25400" y="285750"/>
                </a:cubicBezTo>
                <a:lnTo>
                  <a:pt x="44450" y="298450"/>
                </a:lnTo>
                <a:cubicBezTo>
                  <a:pt x="46567" y="304800"/>
                  <a:pt x="47087" y="311931"/>
                  <a:pt x="50800" y="317500"/>
                </a:cubicBezTo>
                <a:cubicBezTo>
                  <a:pt x="64714" y="338371"/>
                  <a:pt x="71329" y="334608"/>
                  <a:pt x="88900" y="349250"/>
                </a:cubicBezTo>
                <a:cubicBezTo>
                  <a:pt x="146625" y="397354"/>
                  <a:pt x="66207" y="340714"/>
                  <a:pt x="133350" y="381000"/>
                </a:cubicBezTo>
                <a:cubicBezTo>
                  <a:pt x="146438" y="388853"/>
                  <a:pt x="156483" y="403407"/>
                  <a:pt x="171450" y="406400"/>
                </a:cubicBezTo>
                <a:cubicBezTo>
                  <a:pt x="182033" y="408517"/>
                  <a:pt x="192571" y="410874"/>
                  <a:pt x="203200" y="412750"/>
                </a:cubicBezTo>
                <a:cubicBezTo>
                  <a:pt x="228559" y="417225"/>
                  <a:pt x="254971" y="417307"/>
                  <a:pt x="279400" y="425450"/>
                </a:cubicBezTo>
                <a:cubicBezTo>
                  <a:pt x="285750" y="427567"/>
                  <a:pt x="291886" y="430487"/>
                  <a:pt x="298450" y="431800"/>
                </a:cubicBezTo>
                <a:cubicBezTo>
                  <a:pt x="391595" y="450429"/>
                  <a:pt x="300814" y="427461"/>
                  <a:pt x="374650" y="444500"/>
                </a:cubicBezTo>
                <a:cubicBezTo>
                  <a:pt x="391657" y="448425"/>
                  <a:pt x="425450" y="457200"/>
                  <a:pt x="425450" y="457200"/>
                </a:cubicBezTo>
                <a:lnTo>
                  <a:pt x="850900" y="450850"/>
                </a:lnTo>
                <a:cubicBezTo>
                  <a:pt x="882720" y="450850"/>
                  <a:pt x="918522" y="441413"/>
                  <a:pt x="946150" y="457200"/>
                </a:cubicBezTo>
                <a:cubicBezTo>
                  <a:pt x="959145" y="464626"/>
                  <a:pt x="943738" y="487210"/>
                  <a:pt x="939800" y="501650"/>
                </a:cubicBezTo>
                <a:cubicBezTo>
                  <a:pt x="926319" y="551080"/>
                  <a:pt x="922603" y="502441"/>
                  <a:pt x="901700" y="565150"/>
                </a:cubicBezTo>
                <a:lnTo>
                  <a:pt x="895350" y="584200"/>
                </a:lnTo>
                <a:cubicBezTo>
                  <a:pt x="897467" y="592667"/>
                  <a:pt x="897370" y="602023"/>
                  <a:pt x="901700" y="609600"/>
                </a:cubicBezTo>
                <a:cubicBezTo>
                  <a:pt x="939753" y="676192"/>
                  <a:pt x="907274" y="588222"/>
                  <a:pt x="927100" y="647700"/>
                </a:cubicBezTo>
                <a:cubicBezTo>
                  <a:pt x="924983" y="666750"/>
                  <a:pt x="928856" y="687481"/>
                  <a:pt x="920750" y="704850"/>
                </a:cubicBezTo>
                <a:cubicBezTo>
                  <a:pt x="913155" y="721126"/>
                  <a:pt x="895350" y="730250"/>
                  <a:pt x="882650" y="742950"/>
                </a:cubicBezTo>
                <a:cubicBezTo>
                  <a:pt x="858204" y="767396"/>
                  <a:pt x="868581" y="754528"/>
                  <a:pt x="850900" y="781050"/>
                </a:cubicBezTo>
                <a:cubicBezTo>
                  <a:pt x="855133" y="789517"/>
                  <a:pt x="857367" y="799326"/>
                  <a:pt x="863600" y="806450"/>
                </a:cubicBezTo>
                <a:cubicBezTo>
                  <a:pt x="885972" y="832018"/>
                  <a:pt x="894940" y="829801"/>
                  <a:pt x="920750" y="844550"/>
                </a:cubicBezTo>
                <a:cubicBezTo>
                  <a:pt x="927376" y="848336"/>
                  <a:pt x="933450" y="853017"/>
                  <a:pt x="939800" y="857250"/>
                </a:cubicBezTo>
                <a:cubicBezTo>
                  <a:pt x="944033" y="863600"/>
                  <a:pt x="951809" y="868700"/>
                  <a:pt x="952500" y="876300"/>
                </a:cubicBezTo>
                <a:cubicBezTo>
                  <a:pt x="954045" y="893295"/>
                  <a:pt x="951890" y="911029"/>
                  <a:pt x="946150" y="927100"/>
                </a:cubicBezTo>
                <a:cubicBezTo>
                  <a:pt x="941016" y="941474"/>
                  <a:pt x="927576" y="951548"/>
                  <a:pt x="920750" y="965200"/>
                </a:cubicBezTo>
                <a:cubicBezTo>
                  <a:pt x="905057" y="996587"/>
                  <a:pt x="911043" y="981620"/>
                  <a:pt x="901700" y="1009650"/>
                </a:cubicBezTo>
                <a:cubicBezTo>
                  <a:pt x="905933" y="1039283"/>
                  <a:pt x="909198" y="1069071"/>
                  <a:pt x="914400" y="1098550"/>
                </a:cubicBezTo>
                <a:cubicBezTo>
                  <a:pt x="915563" y="1105142"/>
                  <a:pt x="917757" y="1111613"/>
                  <a:pt x="920750" y="1117600"/>
                </a:cubicBezTo>
                <a:cubicBezTo>
                  <a:pt x="924163" y="1124426"/>
                  <a:pt x="930350" y="1129676"/>
                  <a:pt x="933450" y="1136650"/>
                </a:cubicBezTo>
                <a:cubicBezTo>
                  <a:pt x="938887" y="1148883"/>
                  <a:pt x="946150" y="1174750"/>
                  <a:pt x="946150" y="1174750"/>
                </a:cubicBezTo>
                <a:lnTo>
                  <a:pt x="939800" y="1193800"/>
                </a:ln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0" y="5357826"/>
            <a:ext cx="74892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2.</a:t>
            </a:r>
            <a:r>
              <a:rPr lang="ko-KR" altLang="en-US" sz="1100" dirty="0" smtClean="0"/>
              <a:t>변수와</a:t>
            </a:r>
            <a:endParaRPr lang="en-US" altLang="ko-KR" sz="1100" dirty="0" smtClean="0"/>
          </a:p>
          <a:p>
            <a:r>
              <a:rPr lang="ko-KR" altLang="en-US" sz="1100" dirty="0" smtClean="0"/>
              <a:t>일치하는</a:t>
            </a:r>
            <a:endParaRPr lang="en-US" altLang="ko-KR" sz="1100" dirty="0" smtClean="0"/>
          </a:p>
          <a:p>
            <a:r>
              <a:rPr lang="ko-KR" altLang="en-US" sz="1100" dirty="0" smtClean="0"/>
              <a:t>상수를 </a:t>
            </a:r>
            <a:endParaRPr lang="en-US" altLang="ko-KR" sz="1100" dirty="0" smtClean="0"/>
          </a:p>
          <a:p>
            <a:r>
              <a:rPr lang="ko-KR" altLang="en-US" sz="1100" dirty="0" smtClean="0"/>
              <a:t>가진 </a:t>
            </a:r>
            <a:endParaRPr lang="en-US" altLang="ko-KR" sz="1100" dirty="0" smtClean="0"/>
          </a:p>
          <a:p>
            <a:r>
              <a:rPr lang="en-US" altLang="ko-KR" sz="1100" dirty="0" smtClean="0"/>
              <a:t>Case</a:t>
            </a:r>
            <a:r>
              <a:rPr lang="ko-KR" altLang="en-US" sz="1100" dirty="0" smtClean="0"/>
              <a:t>를</a:t>
            </a:r>
            <a:endParaRPr lang="en-US" altLang="ko-KR" sz="1100" dirty="0" smtClean="0"/>
          </a:p>
          <a:p>
            <a:r>
              <a:rPr lang="ko-KR" altLang="en-US" sz="1100" dirty="0" smtClean="0"/>
              <a:t>찾고 </a:t>
            </a:r>
            <a:endParaRPr lang="en-US" altLang="ko-KR" sz="110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1357290" y="6215082"/>
            <a:ext cx="34275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3.</a:t>
            </a:r>
            <a:r>
              <a:rPr lang="ko-KR" altLang="en-US" sz="1100" dirty="0" smtClean="0"/>
              <a:t>하위 모든 </a:t>
            </a:r>
            <a:r>
              <a:rPr lang="en-US" altLang="ko-KR" sz="1100" dirty="0" smtClean="0"/>
              <a:t>case</a:t>
            </a:r>
            <a:r>
              <a:rPr lang="ko-KR" altLang="en-US" sz="1100" dirty="0" smtClean="0"/>
              <a:t>와 </a:t>
            </a:r>
            <a:r>
              <a:rPr lang="en-US" altLang="ko-KR" sz="1100" dirty="0" smtClean="0"/>
              <a:t>default </a:t>
            </a:r>
            <a:r>
              <a:rPr lang="ko-KR" altLang="en-US" sz="1100" dirty="0" smtClean="0"/>
              <a:t>를 수행하고 빠져나간다</a:t>
            </a:r>
            <a:r>
              <a:rPr lang="en-US" altLang="ko-KR" sz="1100" dirty="0" smtClean="0"/>
              <a:t>.</a:t>
            </a:r>
          </a:p>
        </p:txBody>
      </p:sp>
      <p:cxnSp>
        <p:nvCxnSpPr>
          <p:cNvPr id="14" name="직선 화살표 연결선 13"/>
          <p:cNvCxnSpPr/>
          <p:nvPr/>
        </p:nvCxnSpPr>
        <p:spPr>
          <a:xfrm rot="10800000" flipV="1">
            <a:off x="1500166" y="2214554"/>
            <a:ext cx="1071570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71736" y="2000240"/>
            <a:ext cx="44454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solidFill>
                  <a:srgbClr val="FF0000"/>
                </a:solidFill>
              </a:rPr>
              <a:t>상수는 </a:t>
            </a:r>
            <a:r>
              <a:rPr lang="en-US" altLang="ko-KR" sz="1100" dirty="0" smtClean="0">
                <a:solidFill>
                  <a:srgbClr val="FF0000"/>
                </a:solidFill>
              </a:rPr>
              <a:t>switch</a:t>
            </a:r>
            <a:r>
              <a:rPr lang="ko-KR" altLang="en-US" sz="1100" dirty="0" smtClean="0">
                <a:solidFill>
                  <a:srgbClr val="FF0000"/>
                </a:solidFill>
              </a:rPr>
              <a:t>에</a:t>
            </a:r>
            <a:r>
              <a:rPr lang="en-US" altLang="ko-KR" sz="1100" dirty="0" smtClean="0">
                <a:solidFill>
                  <a:srgbClr val="FF0000"/>
                </a:solidFill>
              </a:rPr>
              <a:t> </a:t>
            </a:r>
            <a:r>
              <a:rPr lang="ko-KR" altLang="en-US" sz="1100" dirty="0" smtClean="0">
                <a:solidFill>
                  <a:srgbClr val="FF0000"/>
                </a:solidFill>
              </a:rPr>
              <a:t>입력되는 데이터 형의 범위까지만 사용할 수 있다</a:t>
            </a:r>
            <a:r>
              <a:rPr lang="en-US" altLang="ko-KR" sz="1100" dirty="0" smtClean="0">
                <a:solidFill>
                  <a:srgbClr val="FF0000"/>
                </a:solidFill>
              </a:rPr>
              <a:t>.</a:t>
            </a:r>
            <a:r>
              <a:rPr lang="ko-KR" altLang="en-US" sz="1100" dirty="0" smtClean="0">
                <a:solidFill>
                  <a:srgbClr val="FF0000"/>
                </a:solidFill>
              </a:rPr>
              <a:t> 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cxnSp>
        <p:nvCxnSpPr>
          <p:cNvPr id="18" name="직선 연결선 17"/>
          <p:cNvCxnSpPr>
            <a:stCxn id="5" idx="0"/>
          </p:cNvCxnSpPr>
          <p:nvPr/>
        </p:nvCxnSpPr>
        <p:spPr>
          <a:xfrm rot="16200000" flipH="1">
            <a:off x="2496792" y="1782423"/>
            <a:ext cx="214315" cy="2213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>
            <a:stCxn id="5" idx="2"/>
          </p:cNvCxnSpPr>
          <p:nvPr/>
        </p:nvCxnSpPr>
        <p:spPr>
          <a:xfrm rot="5400000" flipH="1" flipV="1">
            <a:off x="2501170" y="1778046"/>
            <a:ext cx="276998" cy="2927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rot="10800000">
            <a:off x="3714744" y="3000372"/>
            <a:ext cx="357190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00496" y="3000372"/>
            <a:ext cx="1370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상황에 따라 기술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9601539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*break</a:t>
            </a:r>
          </a:p>
          <a:p>
            <a:r>
              <a:rPr lang="en-US" altLang="ko-KR" sz="1600" dirty="0" smtClean="0"/>
              <a:t> - </a:t>
            </a:r>
            <a:r>
              <a:rPr lang="en-US" altLang="ko-KR" sz="1600" dirty="0" err="1" smtClean="0"/>
              <a:t>switch~case</a:t>
            </a:r>
            <a:r>
              <a:rPr lang="en-US" altLang="ko-KR" sz="1600" dirty="0" smtClean="0"/>
              <a:t>,  for, </a:t>
            </a:r>
            <a:r>
              <a:rPr lang="en-US" altLang="ko-KR" sz="1600" dirty="0" err="1" smtClean="0"/>
              <a:t>while,do~while</a:t>
            </a:r>
            <a:r>
              <a:rPr lang="ko-KR" altLang="en-US" sz="1600" dirty="0" smtClean="0"/>
              <a:t>문을 </a:t>
            </a:r>
            <a:r>
              <a:rPr lang="ko-KR" altLang="en-US" sz="1600" dirty="0" smtClean="0"/>
              <a:t>빠져 나갈 때  사용하는 문장</a:t>
            </a:r>
            <a:r>
              <a:rPr lang="en-US" altLang="ko-KR" sz="1600" dirty="0" smtClean="0"/>
              <a:t>.  ( </a:t>
            </a:r>
            <a:r>
              <a:rPr lang="ko-KR" altLang="en-US" sz="1600" dirty="0" smtClean="0"/>
              <a:t>해당문장 안에서만 사용가능 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 Jump Statements ( break, continue, return )</a:t>
            </a:r>
          </a:p>
          <a:p>
            <a:r>
              <a:rPr lang="en-US" altLang="ko-KR" sz="1600" dirty="0"/>
              <a:t> </a:t>
            </a:r>
          </a:p>
          <a:p>
            <a:r>
              <a:rPr lang="en-US" altLang="ko-KR" sz="1600" dirty="0" smtClean="0"/>
              <a:t> -</a:t>
            </a:r>
            <a:r>
              <a:rPr lang="ko-KR" altLang="en-US" sz="1600" dirty="0" smtClean="0"/>
              <a:t>특정 </a:t>
            </a:r>
            <a:r>
              <a:rPr lang="en-US" altLang="ko-KR" sz="1600" dirty="0" smtClean="0"/>
              <a:t>case</a:t>
            </a:r>
            <a:r>
              <a:rPr lang="ko-KR" altLang="en-US" sz="1600" dirty="0" smtClean="0"/>
              <a:t>만 실행하고 </a:t>
            </a:r>
            <a:r>
              <a:rPr lang="en-US" altLang="ko-KR" sz="1600" dirty="0" err="1" smtClean="0"/>
              <a:t>switch~case</a:t>
            </a:r>
            <a:r>
              <a:rPr lang="ko-KR" altLang="en-US" sz="1600" dirty="0" smtClean="0"/>
              <a:t>를 빠져 나가고 싶다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sp>
        <p:nvSpPr>
          <p:cNvPr id="3" name="직사각형 2"/>
          <p:cNvSpPr/>
          <p:nvPr/>
        </p:nvSpPr>
        <p:spPr>
          <a:xfrm>
            <a:off x="1285852" y="1857364"/>
            <a:ext cx="535785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int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=</a:t>
            </a:r>
            <a:r>
              <a:rPr lang="en-US" altLang="ko-KR" sz="1600" b="1" dirty="0" smtClean="0"/>
              <a:t>1</a:t>
            </a:r>
            <a:r>
              <a:rPr lang="en-US" altLang="ko-KR" sz="1600" dirty="0" smtClean="0"/>
              <a:t>;</a:t>
            </a:r>
          </a:p>
          <a:p>
            <a:r>
              <a:rPr lang="en-US" altLang="ko-KR" sz="1600" dirty="0" smtClean="0"/>
              <a:t>     </a:t>
            </a:r>
          </a:p>
          <a:p>
            <a:r>
              <a:rPr lang="en-US" altLang="ko-KR" sz="1600" dirty="0" smtClean="0"/>
              <a:t>     switch( 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 ){</a:t>
            </a:r>
          </a:p>
          <a:p>
            <a:r>
              <a:rPr lang="en-US" altLang="ko-KR" sz="1600" dirty="0" smtClean="0"/>
              <a:t>       case </a:t>
            </a:r>
            <a:r>
              <a:rPr lang="en-US" altLang="ko-KR" sz="1600" b="1" dirty="0" smtClean="0"/>
              <a:t>0</a:t>
            </a:r>
            <a:r>
              <a:rPr lang="en-US" altLang="ko-KR" sz="1600" dirty="0" smtClean="0"/>
              <a:t> : </a:t>
            </a:r>
            <a:r>
              <a:rPr lang="en-US" altLang="ko-KR" sz="1600" dirty="0" err="1" smtClean="0"/>
              <a:t>System.out.println</a:t>
            </a:r>
            <a:r>
              <a:rPr lang="en-US" altLang="ko-KR" sz="1600" dirty="0" smtClean="0"/>
              <a:t>(“</a:t>
            </a:r>
            <a:r>
              <a:rPr lang="ko-KR" altLang="en-US" sz="1600" dirty="0" smtClean="0"/>
              <a:t>영</a:t>
            </a:r>
            <a:r>
              <a:rPr lang="en-US" altLang="ko-KR" sz="1600" dirty="0" smtClean="0"/>
              <a:t>”);</a:t>
            </a:r>
          </a:p>
          <a:p>
            <a:r>
              <a:rPr lang="en-US" altLang="ko-KR" sz="1600" dirty="0" smtClean="0"/>
              <a:t>       case </a:t>
            </a:r>
            <a:r>
              <a:rPr lang="en-US" altLang="ko-KR" sz="1600" b="1" dirty="0" smtClean="0"/>
              <a:t>1</a:t>
            </a:r>
            <a:r>
              <a:rPr lang="en-US" altLang="ko-KR" sz="1600" dirty="0" smtClean="0"/>
              <a:t> : </a:t>
            </a:r>
            <a:r>
              <a:rPr lang="en-US" altLang="ko-KR" sz="1600" dirty="0" err="1" smtClean="0"/>
              <a:t>System.out.println</a:t>
            </a:r>
            <a:r>
              <a:rPr lang="en-US" altLang="ko-KR" sz="1600" dirty="0" smtClean="0"/>
              <a:t>(“</a:t>
            </a:r>
            <a:r>
              <a:rPr lang="ko-KR" altLang="en-US" sz="1600" dirty="0" smtClean="0"/>
              <a:t>일</a:t>
            </a:r>
            <a:r>
              <a:rPr lang="en-US" altLang="ko-KR" sz="1600" dirty="0" smtClean="0"/>
              <a:t>”); </a:t>
            </a:r>
            <a:r>
              <a:rPr lang="en-US" altLang="ko-KR" sz="1600" b="1" dirty="0" smtClean="0"/>
              <a:t>break</a:t>
            </a:r>
            <a:r>
              <a:rPr lang="en-US" altLang="ko-KR" sz="1600" dirty="0" smtClean="0"/>
              <a:t>;</a:t>
            </a:r>
          </a:p>
          <a:p>
            <a:r>
              <a:rPr lang="en-US" altLang="ko-KR" sz="1600" dirty="0" smtClean="0"/>
              <a:t>       case </a:t>
            </a:r>
            <a:r>
              <a:rPr lang="en-US" altLang="ko-KR" sz="1600" b="1" dirty="0" smtClean="0"/>
              <a:t>2</a:t>
            </a:r>
            <a:r>
              <a:rPr lang="en-US" altLang="ko-KR" sz="1600" dirty="0" smtClean="0"/>
              <a:t> : </a:t>
            </a:r>
            <a:r>
              <a:rPr lang="en-US" altLang="ko-KR" sz="1600" dirty="0" err="1" smtClean="0"/>
              <a:t>System.out.println</a:t>
            </a:r>
            <a:r>
              <a:rPr lang="en-US" altLang="ko-KR" sz="1600" dirty="0" smtClean="0"/>
              <a:t>(“</a:t>
            </a:r>
            <a:r>
              <a:rPr lang="ko-KR" altLang="en-US" sz="1600" dirty="0" smtClean="0"/>
              <a:t>이</a:t>
            </a:r>
            <a:r>
              <a:rPr lang="en-US" altLang="ko-KR" sz="1600" dirty="0" smtClean="0"/>
              <a:t>”);</a:t>
            </a:r>
          </a:p>
          <a:p>
            <a:r>
              <a:rPr lang="en-US" altLang="ko-KR" sz="1600" dirty="0" smtClean="0"/>
              <a:t>       default : </a:t>
            </a:r>
            <a:r>
              <a:rPr lang="en-US" altLang="ko-KR" sz="1600" dirty="0" err="1" smtClean="0"/>
              <a:t>System.out.println</a:t>
            </a:r>
            <a:r>
              <a:rPr lang="en-US" altLang="ko-KR" sz="1600" dirty="0" smtClean="0"/>
              <a:t>(“</a:t>
            </a:r>
            <a:r>
              <a:rPr lang="ko-KR" altLang="en-US" sz="1600" dirty="0" smtClean="0"/>
              <a:t>해당케이스 없음</a:t>
            </a:r>
            <a:r>
              <a:rPr lang="en-US" altLang="ko-KR" sz="1600" dirty="0" smtClean="0"/>
              <a:t>.”);</a:t>
            </a:r>
          </a:p>
          <a:p>
            <a:r>
              <a:rPr lang="en-US" altLang="ko-KR" sz="1600" dirty="0" smtClean="0"/>
              <a:t>     } </a:t>
            </a:r>
            <a:endParaRPr lang="ko-KR" altLang="en-US" sz="1600" dirty="0"/>
          </a:p>
        </p:txBody>
      </p:sp>
      <p:sp>
        <p:nvSpPr>
          <p:cNvPr id="5" name="자유형 4"/>
          <p:cNvSpPr/>
          <p:nvPr/>
        </p:nvSpPr>
        <p:spPr>
          <a:xfrm>
            <a:off x="1321108" y="2108200"/>
            <a:ext cx="3536642" cy="915597"/>
          </a:xfrm>
          <a:custGeom>
            <a:avLst/>
            <a:gdLst>
              <a:gd name="connsiteX0" fmla="*/ 602942 w 3536642"/>
              <a:gd name="connsiteY0" fmla="*/ 6350 h 915597"/>
              <a:gd name="connsiteX1" fmla="*/ 621992 w 3536642"/>
              <a:gd name="connsiteY1" fmla="*/ 0 h 915597"/>
              <a:gd name="connsiteX2" fmla="*/ 641042 w 3536642"/>
              <a:gd name="connsiteY2" fmla="*/ 6350 h 915597"/>
              <a:gd name="connsiteX3" fmla="*/ 672792 w 3536642"/>
              <a:gd name="connsiteY3" fmla="*/ 12700 h 915597"/>
              <a:gd name="connsiteX4" fmla="*/ 717242 w 3536642"/>
              <a:gd name="connsiteY4" fmla="*/ 31750 h 915597"/>
              <a:gd name="connsiteX5" fmla="*/ 742642 w 3536642"/>
              <a:gd name="connsiteY5" fmla="*/ 38100 h 915597"/>
              <a:gd name="connsiteX6" fmla="*/ 787092 w 3536642"/>
              <a:gd name="connsiteY6" fmla="*/ 63500 h 915597"/>
              <a:gd name="connsiteX7" fmla="*/ 812492 w 3536642"/>
              <a:gd name="connsiteY7" fmla="*/ 76200 h 915597"/>
              <a:gd name="connsiteX8" fmla="*/ 831542 w 3536642"/>
              <a:gd name="connsiteY8" fmla="*/ 82550 h 915597"/>
              <a:gd name="connsiteX9" fmla="*/ 863292 w 3536642"/>
              <a:gd name="connsiteY9" fmla="*/ 95250 h 915597"/>
              <a:gd name="connsiteX10" fmla="*/ 901392 w 3536642"/>
              <a:gd name="connsiteY10" fmla="*/ 101600 h 915597"/>
              <a:gd name="connsiteX11" fmla="*/ 926792 w 3536642"/>
              <a:gd name="connsiteY11" fmla="*/ 107950 h 915597"/>
              <a:gd name="connsiteX12" fmla="*/ 990292 w 3536642"/>
              <a:gd name="connsiteY12" fmla="*/ 146050 h 915597"/>
              <a:gd name="connsiteX13" fmla="*/ 1009342 w 3536642"/>
              <a:gd name="connsiteY13" fmla="*/ 152400 h 915597"/>
              <a:gd name="connsiteX14" fmla="*/ 1028392 w 3536642"/>
              <a:gd name="connsiteY14" fmla="*/ 171450 h 915597"/>
              <a:gd name="connsiteX15" fmla="*/ 1053792 w 3536642"/>
              <a:gd name="connsiteY15" fmla="*/ 209550 h 915597"/>
              <a:gd name="connsiteX16" fmla="*/ 1085542 w 3536642"/>
              <a:gd name="connsiteY16" fmla="*/ 260350 h 915597"/>
              <a:gd name="connsiteX17" fmla="*/ 1079192 w 3536642"/>
              <a:gd name="connsiteY17" fmla="*/ 304800 h 915597"/>
              <a:gd name="connsiteX18" fmla="*/ 1028392 w 3536642"/>
              <a:gd name="connsiteY18" fmla="*/ 292100 h 915597"/>
              <a:gd name="connsiteX19" fmla="*/ 945842 w 3536642"/>
              <a:gd name="connsiteY19" fmla="*/ 273050 h 915597"/>
              <a:gd name="connsiteX20" fmla="*/ 812492 w 3536642"/>
              <a:gd name="connsiteY20" fmla="*/ 260350 h 915597"/>
              <a:gd name="connsiteX21" fmla="*/ 787092 w 3536642"/>
              <a:gd name="connsiteY21" fmla="*/ 254000 h 915597"/>
              <a:gd name="connsiteX22" fmla="*/ 768042 w 3536642"/>
              <a:gd name="connsiteY22" fmla="*/ 247650 h 915597"/>
              <a:gd name="connsiteX23" fmla="*/ 425142 w 3536642"/>
              <a:gd name="connsiteY23" fmla="*/ 254000 h 915597"/>
              <a:gd name="connsiteX24" fmla="*/ 336242 w 3536642"/>
              <a:gd name="connsiteY24" fmla="*/ 266700 h 915597"/>
              <a:gd name="connsiteX25" fmla="*/ 310842 w 3536642"/>
              <a:gd name="connsiteY25" fmla="*/ 273050 h 915597"/>
              <a:gd name="connsiteX26" fmla="*/ 279092 w 3536642"/>
              <a:gd name="connsiteY26" fmla="*/ 279400 h 915597"/>
              <a:gd name="connsiteX27" fmla="*/ 260042 w 3536642"/>
              <a:gd name="connsiteY27" fmla="*/ 285750 h 915597"/>
              <a:gd name="connsiteX28" fmla="*/ 228292 w 3536642"/>
              <a:gd name="connsiteY28" fmla="*/ 292100 h 915597"/>
              <a:gd name="connsiteX29" fmla="*/ 190192 w 3536642"/>
              <a:gd name="connsiteY29" fmla="*/ 311150 h 915597"/>
              <a:gd name="connsiteX30" fmla="*/ 145742 w 3536642"/>
              <a:gd name="connsiteY30" fmla="*/ 330200 h 915597"/>
              <a:gd name="connsiteX31" fmla="*/ 120342 w 3536642"/>
              <a:gd name="connsiteY31" fmla="*/ 349250 h 915597"/>
              <a:gd name="connsiteX32" fmla="*/ 101292 w 3536642"/>
              <a:gd name="connsiteY32" fmla="*/ 361950 h 915597"/>
              <a:gd name="connsiteX33" fmla="*/ 82242 w 3536642"/>
              <a:gd name="connsiteY33" fmla="*/ 381000 h 915597"/>
              <a:gd name="connsiteX34" fmla="*/ 63192 w 3536642"/>
              <a:gd name="connsiteY34" fmla="*/ 393700 h 915597"/>
              <a:gd name="connsiteX35" fmla="*/ 12392 w 3536642"/>
              <a:gd name="connsiteY35" fmla="*/ 450850 h 915597"/>
              <a:gd name="connsiteX36" fmla="*/ 12392 w 3536642"/>
              <a:gd name="connsiteY36" fmla="*/ 603250 h 915597"/>
              <a:gd name="connsiteX37" fmla="*/ 25092 w 3536642"/>
              <a:gd name="connsiteY37" fmla="*/ 628650 h 915597"/>
              <a:gd name="connsiteX38" fmla="*/ 56842 w 3536642"/>
              <a:gd name="connsiteY38" fmla="*/ 673100 h 915597"/>
              <a:gd name="connsiteX39" fmla="*/ 63192 w 3536642"/>
              <a:gd name="connsiteY39" fmla="*/ 692150 h 915597"/>
              <a:gd name="connsiteX40" fmla="*/ 133042 w 3536642"/>
              <a:gd name="connsiteY40" fmla="*/ 730250 h 915597"/>
              <a:gd name="connsiteX41" fmla="*/ 158442 w 3536642"/>
              <a:gd name="connsiteY41" fmla="*/ 736600 h 915597"/>
              <a:gd name="connsiteX42" fmla="*/ 228292 w 3536642"/>
              <a:gd name="connsiteY42" fmla="*/ 762000 h 915597"/>
              <a:gd name="connsiteX43" fmla="*/ 253692 w 3536642"/>
              <a:gd name="connsiteY43" fmla="*/ 774700 h 915597"/>
              <a:gd name="connsiteX44" fmla="*/ 279092 w 3536642"/>
              <a:gd name="connsiteY44" fmla="*/ 781050 h 915597"/>
              <a:gd name="connsiteX45" fmla="*/ 787092 w 3536642"/>
              <a:gd name="connsiteY45" fmla="*/ 787400 h 915597"/>
              <a:gd name="connsiteX46" fmla="*/ 825192 w 3536642"/>
              <a:gd name="connsiteY46" fmla="*/ 793750 h 915597"/>
              <a:gd name="connsiteX47" fmla="*/ 869642 w 3536642"/>
              <a:gd name="connsiteY47" fmla="*/ 800100 h 915597"/>
              <a:gd name="connsiteX48" fmla="*/ 901392 w 3536642"/>
              <a:gd name="connsiteY48" fmla="*/ 806450 h 915597"/>
              <a:gd name="connsiteX49" fmla="*/ 952192 w 3536642"/>
              <a:gd name="connsiteY49" fmla="*/ 812800 h 915597"/>
              <a:gd name="connsiteX50" fmla="*/ 1015692 w 3536642"/>
              <a:gd name="connsiteY50" fmla="*/ 825500 h 915597"/>
              <a:gd name="connsiteX51" fmla="*/ 1104592 w 3536642"/>
              <a:gd name="connsiteY51" fmla="*/ 831850 h 915597"/>
              <a:gd name="connsiteX52" fmla="*/ 1155392 w 3536642"/>
              <a:gd name="connsiteY52" fmla="*/ 844550 h 915597"/>
              <a:gd name="connsiteX53" fmla="*/ 1244292 w 3536642"/>
              <a:gd name="connsiteY53" fmla="*/ 850900 h 915597"/>
              <a:gd name="connsiteX54" fmla="*/ 1555442 w 3536642"/>
              <a:gd name="connsiteY54" fmla="*/ 857250 h 915597"/>
              <a:gd name="connsiteX55" fmla="*/ 1606242 w 3536642"/>
              <a:gd name="connsiteY55" fmla="*/ 863600 h 915597"/>
              <a:gd name="connsiteX56" fmla="*/ 1625292 w 3536642"/>
              <a:gd name="connsiteY56" fmla="*/ 869950 h 915597"/>
              <a:gd name="connsiteX57" fmla="*/ 1904692 w 3536642"/>
              <a:gd name="connsiteY57" fmla="*/ 876300 h 915597"/>
              <a:gd name="connsiteX58" fmla="*/ 2063442 w 3536642"/>
              <a:gd name="connsiteY58" fmla="*/ 895350 h 915597"/>
              <a:gd name="connsiteX59" fmla="*/ 3346142 w 3536642"/>
              <a:gd name="connsiteY59" fmla="*/ 901700 h 915597"/>
              <a:gd name="connsiteX60" fmla="*/ 3492192 w 3536642"/>
              <a:gd name="connsiteY60" fmla="*/ 908050 h 915597"/>
              <a:gd name="connsiteX61" fmla="*/ 3511242 w 3536642"/>
              <a:gd name="connsiteY61" fmla="*/ 914400 h 915597"/>
              <a:gd name="connsiteX62" fmla="*/ 3536642 w 3536642"/>
              <a:gd name="connsiteY62" fmla="*/ 914400 h 915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536642" h="915597">
                <a:moveTo>
                  <a:pt x="602942" y="6350"/>
                </a:moveTo>
                <a:cubicBezTo>
                  <a:pt x="609292" y="4233"/>
                  <a:pt x="615299" y="0"/>
                  <a:pt x="621992" y="0"/>
                </a:cubicBezTo>
                <a:cubicBezTo>
                  <a:pt x="628685" y="0"/>
                  <a:pt x="634548" y="4727"/>
                  <a:pt x="641042" y="6350"/>
                </a:cubicBezTo>
                <a:cubicBezTo>
                  <a:pt x="651513" y="8968"/>
                  <a:pt x="662209" y="10583"/>
                  <a:pt x="672792" y="12700"/>
                </a:cubicBezTo>
                <a:cubicBezTo>
                  <a:pt x="695370" y="23989"/>
                  <a:pt x="695441" y="25521"/>
                  <a:pt x="717242" y="31750"/>
                </a:cubicBezTo>
                <a:cubicBezTo>
                  <a:pt x="725633" y="34148"/>
                  <a:pt x="734470" y="35036"/>
                  <a:pt x="742642" y="38100"/>
                </a:cubicBezTo>
                <a:cubicBezTo>
                  <a:pt x="770553" y="48567"/>
                  <a:pt x="763644" y="50101"/>
                  <a:pt x="787092" y="63500"/>
                </a:cubicBezTo>
                <a:cubicBezTo>
                  <a:pt x="795311" y="68196"/>
                  <a:pt x="803791" y="72471"/>
                  <a:pt x="812492" y="76200"/>
                </a:cubicBezTo>
                <a:cubicBezTo>
                  <a:pt x="818644" y="78837"/>
                  <a:pt x="825275" y="80200"/>
                  <a:pt x="831542" y="82550"/>
                </a:cubicBezTo>
                <a:cubicBezTo>
                  <a:pt x="842215" y="86552"/>
                  <a:pt x="852295" y="92251"/>
                  <a:pt x="863292" y="95250"/>
                </a:cubicBezTo>
                <a:cubicBezTo>
                  <a:pt x="875714" y="98638"/>
                  <a:pt x="888767" y="99075"/>
                  <a:pt x="901392" y="101600"/>
                </a:cubicBezTo>
                <a:cubicBezTo>
                  <a:pt x="909950" y="103312"/>
                  <a:pt x="918325" y="105833"/>
                  <a:pt x="926792" y="107950"/>
                </a:cubicBezTo>
                <a:cubicBezTo>
                  <a:pt x="953877" y="126007"/>
                  <a:pt x="962956" y="134334"/>
                  <a:pt x="990292" y="146050"/>
                </a:cubicBezTo>
                <a:cubicBezTo>
                  <a:pt x="996444" y="148687"/>
                  <a:pt x="1002992" y="150283"/>
                  <a:pt x="1009342" y="152400"/>
                </a:cubicBezTo>
                <a:cubicBezTo>
                  <a:pt x="1015692" y="158750"/>
                  <a:pt x="1022879" y="164361"/>
                  <a:pt x="1028392" y="171450"/>
                </a:cubicBezTo>
                <a:cubicBezTo>
                  <a:pt x="1037763" y="183498"/>
                  <a:pt x="1045325" y="196850"/>
                  <a:pt x="1053792" y="209550"/>
                </a:cubicBezTo>
                <a:cubicBezTo>
                  <a:pt x="1073338" y="238869"/>
                  <a:pt x="1062565" y="222056"/>
                  <a:pt x="1085542" y="260350"/>
                </a:cubicBezTo>
                <a:cubicBezTo>
                  <a:pt x="1083425" y="275167"/>
                  <a:pt x="1092276" y="297531"/>
                  <a:pt x="1079192" y="304800"/>
                </a:cubicBezTo>
                <a:cubicBezTo>
                  <a:pt x="1063934" y="313277"/>
                  <a:pt x="1044951" y="297620"/>
                  <a:pt x="1028392" y="292100"/>
                </a:cubicBezTo>
                <a:cubicBezTo>
                  <a:pt x="996411" y="281440"/>
                  <a:pt x="991568" y="278950"/>
                  <a:pt x="945842" y="273050"/>
                </a:cubicBezTo>
                <a:cubicBezTo>
                  <a:pt x="901558" y="267336"/>
                  <a:pt x="812492" y="260350"/>
                  <a:pt x="812492" y="260350"/>
                </a:cubicBezTo>
                <a:cubicBezTo>
                  <a:pt x="804025" y="258233"/>
                  <a:pt x="795483" y="256398"/>
                  <a:pt x="787092" y="254000"/>
                </a:cubicBezTo>
                <a:cubicBezTo>
                  <a:pt x="780656" y="252161"/>
                  <a:pt x="774735" y="247650"/>
                  <a:pt x="768042" y="247650"/>
                </a:cubicBezTo>
                <a:cubicBezTo>
                  <a:pt x="653722" y="247650"/>
                  <a:pt x="539442" y="251883"/>
                  <a:pt x="425142" y="254000"/>
                </a:cubicBezTo>
                <a:cubicBezTo>
                  <a:pt x="393926" y="257902"/>
                  <a:pt x="366760" y="260596"/>
                  <a:pt x="336242" y="266700"/>
                </a:cubicBezTo>
                <a:cubicBezTo>
                  <a:pt x="327684" y="268412"/>
                  <a:pt x="319361" y="271157"/>
                  <a:pt x="310842" y="273050"/>
                </a:cubicBezTo>
                <a:cubicBezTo>
                  <a:pt x="300306" y="275391"/>
                  <a:pt x="289563" y="276782"/>
                  <a:pt x="279092" y="279400"/>
                </a:cubicBezTo>
                <a:cubicBezTo>
                  <a:pt x="272598" y="281023"/>
                  <a:pt x="266536" y="284127"/>
                  <a:pt x="260042" y="285750"/>
                </a:cubicBezTo>
                <a:cubicBezTo>
                  <a:pt x="249571" y="288368"/>
                  <a:pt x="238875" y="289983"/>
                  <a:pt x="228292" y="292100"/>
                </a:cubicBezTo>
                <a:cubicBezTo>
                  <a:pt x="191683" y="316506"/>
                  <a:pt x="226998" y="295376"/>
                  <a:pt x="190192" y="311150"/>
                </a:cubicBezTo>
                <a:cubicBezTo>
                  <a:pt x="135265" y="334690"/>
                  <a:pt x="190418" y="315308"/>
                  <a:pt x="145742" y="330200"/>
                </a:cubicBezTo>
                <a:cubicBezTo>
                  <a:pt x="137275" y="336550"/>
                  <a:pt x="128954" y="343099"/>
                  <a:pt x="120342" y="349250"/>
                </a:cubicBezTo>
                <a:cubicBezTo>
                  <a:pt x="114132" y="353686"/>
                  <a:pt x="107155" y="357064"/>
                  <a:pt x="101292" y="361950"/>
                </a:cubicBezTo>
                <a:cubicBezTo>
                  <a:pt x="94393" y="367699"/>
                  <a:pt x="89141" y="375251"/>
                  <a:pt x="82242" y="381000"/>
                </a:cubicBezTo>
                <a:cubicBezTo>
                  <a:pt x="76379" y="385886"/>
                  <a:pt x="68896" y="388630"/>
                  <a:pt x="63192" y="393700"/>
                </a:cubicBezTo>
                <a:cubicBezTo>
                  <a:pt x="27604" y="425334"/>
                  <a:pt x="31694" y="421897"/>
                  <a:pt x="12392" y="450850"/>
                </a:cubicBezTo>
                <a:cubicBezTo>
                  <a:pt x="3088" y="515975"/>
                  <a:pt x="0" y="516503"/>
                  <a:pt x="12392" y="603250"/>
                </a:cubicBezTo>
                <a:cubicBezTo>
                  <a:pt x="13731" y="612621"/>
                  <a:pt x="20396" y="620431"/>
                  <a:pt x="25092" y="628650"/>
                </a:cubicBezTo>
                <a:cubicBezTo>
                  <a:pt x="32520" y="641649"/>
                  <a:pt x="48665" y="662197"/>
                  <a:pt x="56842" y="673100"/>
                </a:cubicBezTo>
                <a:cubicBezTo>
                  <a:pt x="58959" y="679450"/>
                  <a:pt x="58459" y="687417"/>
                  <a:pt x="63192" y="692150"/>
                </a:cubicBezTo>
                <a:cubicBezTo>
                  <a:pt x="80835" y="709793"/>
                  <a:pt x="109480" y="722396"/>
                  <a:pt x="133042" y="730250"/>
                </a:cubicBezTo>
                <a:cubicBezTo>
                  <a:pt x="141321" y="733010"/>
                  <a:pt x="149975" y="734483"/>
                  <a:pt x="158442" y="736600"/>
                </a:cubicBezTo>
                <a:cubicBezTo>
                  <a:pt x="222652" y="775126"/>
                  <a:pt x="155674" y="740214"/>
                  <a:pt x="228292" y="762000"/>
                </a:cubicBezTo>
                <a:cubicBezTo>
                  <a:pt x="237359" y="764720"/>
                  <a:pt x="244829" y="771376"/>
                  <a:pt x="253692" y="774700"/>
                </a:cubicBezTo>
                <a:cubicBezTo>
                  <a:pt x="261864" y="777764"/>
                  <a:pt x="270367" y="780842"/>
                  <a:pt x="279092" y="781050"/>
                </a:cubicBezTo>
                <a:cubicBezTo>
                  <a:pt x="448391" y="785081"/>
                  <a:pt x="617759" y="785283"/>
                  <a:pt x="787092" y="787400"/>
                </a:cubicBezTo>
                <a:lnTo>
                  <a:pt x="825192" y="793750"/>
                </a:lnTo>
                <a:cubicBezTo>
                  <a:pt x="839985" y="796026"/>
                  <a:pt x="854879" y="797639"/>
                  <a:pt x="869642" y="800100"/>
                </a:cubicBezTo>
                <a:cubicBezTo>
                  <a:pt x="880288" y="801874"/>
                  <a:pt x="890725" y="804809"/>
                  <a:pt x="901392" y="806450"/>
                </a:cubicBezTo>
                <a:cubicBezTo>
                  <a:pt x="918259" y="809045"/>
                  <a:pt x="935359" y="809995"/>
                  <a:pt x="952192" y="812800"/>
                </a:cubicBezTo>
                <a:cubicBezTo>
                  <a:pt x="973484" y="816349"/>
                  <a:pt x="994161" y="823962"/>
                  <a:pt x="1015692" y="825500"/>
                </a:cubicBezTo>
                <a:lnTo>
                  <a:pt x="1104592" y="831850"/>
                </a:lnTo>
                <a:cubicBezTo>
                  <a:pt x="1121525" y="836083"/>
                  <a:pt x="1138098" y="842192"/>
                  <a:pt x="1155392" y="844550"/>
                </a:cubicBezTo>
                <a:cubicBezTo>
                  <a:pt x="1184828" y="848564"/>
                  <a:pt x="1214598" y="849957"/>
                  <a:pt x="1244292" y="850900"/>
                </a:cubicBezTo>
                <a:cubicBezTo>
                  <a:pt x="1347978" y="854192"/>
                  <a:pt x="1451725" y="855133"/>
                  <a:pt x="1555442" y="857250"/>
                </a:cubicBezTo>
                <a:cubicBezTo>
                  <a:pt x="1572375" y="859367"/>
                  <a:pt x="1589452" y="860547"/>
                  <a:pt x="1606242" y="863600"/>
                </a:cubicBezTo>
                <a:cubicBezTo>
                  <a:pt x="1612828" y="864797"/>
                  <a:pt x="1618605" y="869665"/>
                  <a:pt x="1625292" y="869950"/>
                </a:cubicBezTo>
                <a:cubicBezTo>
                  <a:pt x="1718365" y="873911"/>
                  <a:pt x="1811559" y="874183"/>
                  <a:pt x="1904692" y="876300"/>
                </a:cubicBezTo>
                <a:cubicBezTo>
                  <a:pt x="1957233" y="885057"/>
                  <a:pt x="2009915" y="894623"/>
                  <a:pt x="2063442" y="895350"/>
                </a:cubicBezTo>
                <a:lnTo>
                  <a:pt x="3346142" y="901700"/>
                </a:lnTo>
                <a:cubicBezTo>
                  <a:pt x="3394825" y="903817"/>
                  <a:pt x="3443606" y="904313"/>
                  <a:pt x="3492192" y="908050"/>
                </a:cubicBezTo>
                <a:cubicBezTo>
                  <a:pt x="3498866" y="908563"/>
                  <a:pt x="3504616" y="913453"/>
                  <a:pt x="3511242" y="914400"/>
                </a:cubicBezTo>
                <a:cubicBezTo>
                  <a:pt x="3519624" y="915597"/>
                  <a:pt x="3528175" y="914400"/>
                  <a:pt x="3536642" y="91440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폭발 2 5"/>
          <p:cNvSpPr/>
          <p:nvPr/>
        </p:nvSpPr>
        <p:spPr>
          <a:xfrm>
            <a:off x="5072066" y="2714620"/>
            <a:ext cx="357190" cy="214314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 6"/>
          <p:cNvSpPr/>
          <p:nvPr/>
        </p:nvSpPr>
        <p:spPr>
          <a:xfrm>
            <a:off x="1530350" y="3001208"/>
            <a:ext cx="5140475" cy="1551742"/>
          </a:xfrm>
          <a:custGeom>
            <a:avLst/>
            <a:gdLst>
              <a:gd name="connsiteX0" fmla="*/ 3905250 w 5140475"/>
              <a:gd name="connsiteY0" fmla="*/ 53142 h 1551742"/>
              <a:gd name="connsiteX1" fmla="*/ 3917950 w 5140475"/>
              <a:gd name="connsiteY1" fmla="*/ 27742 h 1551742"/>
              <a:gd name="connsiteX2" fmla="*/ 3943350 w 5140475"/>
              <a:gd name="connsiteY2" fmla="*/ 21392 h 1551742"/>
              <a:gd name="connsiteX3" fmla="*/ 4038600 w 5140475"/>
              <a:gd name="connsiteY3" fmla="*/ 2342 h 1551742"/>
              <a:gd name="connsiteX4" fmla="*/ 4711700 w 5140475"/>
              <a:gd name="connsiteY4" fmla="*/ 8692 h 1551742"/>
              <a:gd name="connsiteX5" fmla="*/ 4743450 w 5140475"/>
              <a:gd name="connsiteY5" fmla="*/ 21392 h 1551742"/>
              <a:gd name="connsiteX6" fmla="*/ 4768850 w 5140475"/>
              <a:gd name="connsiteY6" fmla="*/ 27742 h 1551742"/>
              <a:gd name="connsiteX7" fmla="*/ 4838700 w 5140475"/>
              <a:gd name="connsiteY7" fmla="*/ 53142 h 1551742"/>
              <a:gd name="connsiteX8" fmla="*/ 4889500 w 5140475"/>
              <a:gd name="connsiteY8" fmla="*/ 84892 h 1551742"/>
              <a:gd name="connsiteX9" fmla="*/ 4908550 w 5140475"/>
              <a:gd name="connsiteY9" fmla="*/ 91242 h 1551742"/>
              <a:gd name="connsiteX10" fmla="*/ 4959350 w 5140475"/>
              <a:gd name="connsiteY10" fmla="*/ 116642 h 1551742"/>
              <a:gd name="connsiteX11" fmla="*/ 5035550 w 5140475"/>
              <a:gd name="connsiteY11" fmla="*/ 167442 h 1551742"/>
              <a:gd name="connsiteX12" fmla="*/ 5054600 w 5140475"/>
              <a:gd name="connsiteY12" fmla="*/ 173792 h 1551742"/>
              <a:gd name="connsiteX13" fmla="*/ 5111750 w 5140475"/>
              <a:gd name="connsiteY13" fmla="*/ 237292 h 1551742"/>
              <a:gd name="connsiteX14" fmla="*/ 5118100 w 5140475"/>
              <a:gd name="connsiteY14" fmla="*/ 256342 h 1551742"/>
              <a:gd name="connsiteX15" fmla="*/ 5130800 w 5140475"/>
              <a:gd name="connsiteY15" fmla="*/ 281742 h 1551742"/>
              <a:gd name="connsiteX16" fmla="*/ 5137150 w 5140475"/>
              <a:gd name="connsiteY16" fmla="*/ 338892 h 1551742"/>
              <a:gd name="connsiteX17" fmla="*/ 5124450 w 5140475"/>
              <a:gd name="connsiteY17" fmla="*/ 611942 h 1551742"/>
              <a:gd name="connsiteX18" fmla="*/ 5105400 w 5140475"/>
              <a:gd name="connsiteY18" fmla="*/ 650042 h 1551742"/>
              <a:gd name="connsiteX19" fmla="*/ 5099050 w 5140475"/>
              <a:gd name="connsiteY19" fmla="*/ 669092 h 1551742"/>
              <a:gd name="connsiteX20" fmla="*/ 5060950 w 5140475"/>
              <a:gd name="connsiteY20" fmla="*/ 726242 h 1551742"/>
              <a:gd name="connsiteX21" fmla="*/ 5022850 w 5140475"/>
              <a:gd name="connsiteY21" fmla="*/ 777042 h 1551742"/>
              <a:gd name="connsiteX22" fmla="*/ 5003800 w 5140475"/>
              <a:gd name="connsiteY22" fmla="*/ 802442 h 1551742"/>
              <a:gd name="connsiteX23" fmla="*/ 4978400 w 5140475"/>
              <a:gd name="connsiteY23" fmla="*/ 821492 h 1551742"/>
              <a:gd name="connsiteX24" fmla="*/ 4921250 w 5140475"/>
              <a:gd name="connsiteY24" fmla="*/ 878642 h 1551742"/>
              <a:gd name="connsiteX25" fmla="*/ 4838700 w 5140475"/>
              <a:gd name="connsiteY25" fmla="*/ 929442 h 1551742"/>
              <a:gd name="connsiteX26" fmla="*/ 4756150 w 5140475"/>
              <a:gd name="connsiteY26" fmla="*/ 954842 h 1551742"/>
              <a:gd name="connsiteX27" fmla="*/ 4648200 w 5140475"/>
              <a:gd name="connsiteY27" fmla="*/ 967542 h 1551742"/>
              <a:gd name="connsiteX28" fmla="*/ 4533900 w 5140475"/>
              <a:gd name="connsiteY28" fmla="*/ 986592 h 1551742"/>
              <a:gd name="connsiteX29" fmla="*/ 4495800 w 5140475"/>
              <a:gd name="connsiteY29" fmla="*/ 992942 h 1551742"/>
              <a:gd name="connsiteX30" fmla="*/ 4445000 w 5140475"/>
              <a:gd name="connsiteY30" fmla="*/ 999292 h 1551742"/>
              <a:gd name="connsiteX31" fmla="*/ 4375150 w 5140475"/>
              <a:gd name="connsiteY31" fmla="*/ 1011992 h 1551742"/>
              <a:gd name="connsiteX32" fmla="*/ 4229100 w 5140475"/>
              <a:gd name="connsiteY32" fmla="*/ 1031042 h 1551742"/>
              <a:gd name="connsiteX33" fmla="*/ 4184650 w 5140475"/>
              <a:gd name="connsiteY33" fmla="*/ 1037392 h 1551742"/>
              <a:gd name="connsiteX34" fmla="*/ 4070350 w 5140475"/>
              <a:gd name="connsiteY34" fmla="*/ 1050092 h 1551742"/>
              <a:gd name="connsiteX35" fmla="*/ 4019550 w 5140475"/>
              <a:gd name="connsiteY35" fmla="*/ 1056442 h 1551742"/>
              <a:gd name="connsiteX36" fmla="*/ 3867150 w 5140475"/>
              <a:gd name="connsiteY36" fmla="*/ 1062792 h 1551742"/>
              <a:gd name="connsiteX37" fmla="*/ 2806700 w 5140475"/>
              <a:gd name="connsiteY37" fmla="*/ 1069142 h 1551742"/>
              <a:gd name="connsiteX38" fmla="*/ 1517650 w 5140475"/>
              <a:gd name="connsiteY38" fmla="*/ 1081842 h 1551742"/>
              <a:gd name="connsiteX39" fmla="*/ 1416050 w 5140475"/>
              <a:gd name="connsiteY39" fmla="*/ 1094542 h 1551742"/>
              <a:gd name="connsiteX40" fmla="*/ 1250950 w 5140475"/>
              <a:gd name="connsiteY40" fmla="*/ 1113592 h 1551742"/>
              <a:gd name="connsiteX41" fmla="*/ 787400 w 5140475"/>
              <a:gd name="connsiteY41" fmla="*/ 1126292 h 1551742"/>
              <a:gd name="connsiteX42" fmla="*/ 698500 w 5140475"/>
              <a:gd name="connsiteY42" fmla="*/ 1138992 h 1551742"/>
              <a:gd name="connsiteX43" fmla="*/ 609600 w 5140475"/>
              <a:gd name="connsiteY43" fmla="*/ 1145342 h 1551742"/>
              <a:gd name="connsiteX44" fmla="*/ 546100 w 5140475"/>
              <a:gd name="connsiteY44" fmla="*/ 1158042 h 1551742"/>
              <a:gd name="connsiteX45" fmla="*/ 482600 w 5140475"/>
              <a:gd name="connsiteY45" fmla="*/ 1170742 h 1551742"/>
              <a:gd name="connsiteX46" fmla="*/ 412750 w 5140475"/>
              <a:gd name="connsiteY46" fmla="*/ 1177092 h 1551742"/>
              <a:gd name="connsiteX47" fmla="*/ 330200 w 5140475"/>
              <a:gd name="connsiteY47" fmla="*/ 1189792 h 1551742"/>
              <a:gd name="connsiteX48" fmla="*/ 241300 w 5140475"/>
              <a:gd name="connsiteY48" fmla="*/ 1202492 h 1551742"/>
              <a:gd name="connsiteX49" fmla="*/ 222250 w 5140475"/>
              <a:gd name="connsiteY49" fmla="*/ 1208842 h 1551742"/>
              <a:gd name="connsiteX50" fmla="*/ 190500 w 5140475"/>
              <a:gd name="connsiteY50" fmla="*/ 1227892 h 1551742"/>
              <a:gd name="connsiteX51" fmla="*/ 152400 w 5140475"/>
              <a:gd name="connsiteY51" fmla="*/ 1234242 h 1551742"/>
              <a:gd name="connsiteX52" fmla="*/ 107950 w 5140475"/>
              <a:gd name="connsiteY52" fmla="*/ 1253292 h 1551742"/>
              <a:gd name="connsiteX53" fmla="*/ 57150 w 5140475"/>
              <a:gd name="connsiteY53" fmla="*/ 1265992 h 1551742"/>
              <a:gd name="connsiteX54" fmla="*/ 25400 w 5140475"/>
              <a:gd name="connsiteY54" fmla="*/ 1304092 h 1551742"/>
              <a:gd name="connsiteX55" fmla="*/ 6350 w 5140475"/>
              <a:gd name="connsiteY55" fmla="*/ 1367592 h 1551742"/>
              <a:gd name="connsiteX56" fmla="*/ 0 w 5140475"/>
              <a:gd name="connsiteY56" fmla="*/ 1386642 h 1551742"/>
              <a:gd name="connsiteX57" fmla="*/ 12700 w 5140475"/>
              <a:gd name="connsiteY57" fmla="*/ 1488242 h 1551742"/>
              <a:gd name="connsiteX58" fmla="*/ 25400 w 5140475"/>
              <a:gd name="connsiteY58" fmla="*/ 1507292 h 1551742"/>
              <a:gd name="connsiteX59" fmla="*/ 44450 w 5140475"/>
              <a:gd name="connsiteY59" fmla="*/ 1545392 h 1551742"/>
              <a:gd name="connsiteX60" fmla="*/ 63500 w 5140475"/>
              <a:gd name="connsiteY60" fmla="*/ 1551742 h 1551742"/>
              <a:gd name="connsiteX61" fmla="*/ 88900 w 5140475"/>
              <a:gd name="connsiteY61" fmla="*/ 1519992 h 1551742"/>
              <a:gd name="connsiteX62" fmla="*/ 101600 w 5140475"/>
              <a:gd name="connsiteY62" fmla="*/ 1500942 h 1551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5140475" h="1551742">
                <a:moveTo>
                  <a:pt x="3905250" y="53142"/>
                </a:moveTo>
                <a:cubicBezTo>
                  <a:pt x="3909483" y="44675"/>
                  <a:pt x="3910678" y="33802"/>
                  <a:pt x="3917950" y="27742"/>
                </a:cubicBezTo>
                <a:cubicBezTo>
                  <a:pt x="3924654" y="22155"/>
                  <a:pt x="3934792" y="23104"/>
                  <a:pt x="3943350" y="21392"/>
                </a:cubicBezTo>
                <a:cubicBezTo>
                  <a:pt x="4050309" y="0"/>
                  <a:pt x="3979723" y="17061"/>
                  <a:pt x="4038600" y="2342"/>
                </a:cubicBezTo>
                <a:lnTo>
                  <a:pt x="4711700" y="8692"/>
                </a:lnTo>
                <a:cubicBezTo>
                  <a:pt x="4723094" y="9000"/>
                  <a:pt x="4732636" y="17787"/>
                  <a:pt x="4743450" y="21392"/>
                </a:cubicBezTo>
                <a:cubicBezTo>
                  <a:pt x="4751729" y="24152"/>
                  <a:pt x="4760491" y="25234"/>
                  <a:pt x="4768850" y="27742"/>
                </a:cubicBezTo>
                <a:cubicBezTo>
                  <a:pt x="4790511" y="34240"/>
                  <a:pt x="4817725" y="43820"/>
                  <a:pt x="4838700" y="53142"/>
                </a:cubicBezTo>
                <a:cubicBezTo>
                  <a:pt x="4899785" y="80291"/>
                  <a:pt x="4827214" y="49300"/>
                  <a:pt x="4889500" y="84892"/>
                </a:cubicBezTo>
                <a:cubicBezTo>
                  <a:pt x="4895312" y="88213"/>
                  <a:pt x="4902563" y="88249"/>
                  <a:pt x="4908550" y="91242"/>
                </a:cubicBezTo>
                <a:cubicBezTo>
                  <a:pt x="4968533" y="121234"/>
                  <a:pt x="4916392" y="102323"/>
                  <a:pt x="4959350" y="116642"/>
                </a:cubicBezTo>
                <a:cubicBezTo>
                  <a:pt x="4978549" y="131041"/>
                  <a:pt x="5017618" y="161465"/>
                  <a:pt x="5035550" y="167442"/>
                </a:cubicBezTo>
                <a:lnTo>
                  <a:pt x="5054600" y="173792"/>
                </a:lnTo>
                <a:cubicBezTo>
                  <a:pt x="5100184" y="219376"/>
                  <a:pt x="5081924" y="197524"/>
                  <a:pt x="5111750" y="237292"/>
                </a:cubicBezTo>
                <a:cubicBezTo>
                  <a:pt x="5113867" y="243642"/>
                  <a:pt x="5115463" y="250190"/>
                  <a:pt x="5118100" y="256342"/>
                </a:cubicBezTo>
                <a:cubicBezTo>
                  <a:pt x="5121829" y="265043"/>
                  <a:pt x="5128671" y="272518"/>
                  <a:pt x="5130800" y="281742"/>
                </a:cubicBezTo>
                <a:cubicBezTo>
                  <a:pt x="5135110" y="300418"/>
                  <a:pt x="5135033" y="319842"/>
                  <a:pt x="5137150" y="338892"/>
                </a:cubicBezTo>
                <a:cubicBezTo>
                  <a:pt x="5136013" y="379813"/>
                  <a:pt x="5140475" y="531816"/>
                  <a:pt x="5124450" y="611942"/>
                </a:cubicBezTo>
                <a:cubicBezTo>
                  <a:pt x="5119130" y="638543"/>
                  <a:pt x="5117887" y="625068"/>
                  <a:pt x="5105400" y="650042"/>
                </a:cubicBezTo>
                <a:cubicBezTo>
                  <a:pt x="5102407" y="656029"/>
                  <a:pt x="5102423" y="663310"/>
                  <a:pt x="5099050" y="669092"/>
                </a:cubicBezTo>
                <a:cubicBezTo>
                  <a:pt x="5087514" y="688868"/>
                  <a:pt x="5071189" y="705764"/>
                  <a:pt x="5060950" y="726242"/>
                </a:cubicBezTo>
                <a:cubicBezTo>
                  <a:pt x="5038667" y="770809"/>
                  <a:pt x="5060292" y="734251"/>
                  <a:pt x="5022850" y="777042"/>
                </a:cubicBezTo>
                <a:cubicBezTo>
                  <a:pt x="5015881" y="785007"/>
                  <a:pt x="5011284" y="794958"/>
                  <a:pt x="5003800" y="802442"/>
                </a:cubicBezTo>
                <a:cubicBezTo>
                  <a:pt x="4996316" y="809926"/>
                  <a:pt x="4985884" y="814008"/>
                  <a:pt x="4978400" y="821492"/>
                </a:cubicBezTo>
                <a:cubicBezTo>
                  <a:pt x="4936067" y="863825"/>
                  <a:pt x="4972050" y="844775"/>
                  <a:pt x="4921250" y="878642"/>
                </a:cubicBezTo>
                <a:cubicBezTo>
                  <a:pt x="4894367" y="896564"/>
                  <a:pt x="4870382" y="923106"/>
                  <a:pt x="4838700" y="929442"/>
                </a:cubicBezTo>
                <a:cubicBezTo>
                  <a:pt x="4766499" y="943882"/>
                  <a:pt x="4855122" y="924389"/>
                  <a:pt x="4756150" y="954842"/>
                </a:cubicBezTo>
                <a:cubicBezTo>
                  <a:pt x="4726644" y="963921"/>
                  <a:pt x="4670835" y="965656"/>
                  <a:pt x="4648200" y="967542"/>
                </a:cubicBezTo>
                <a:cubicBezTo>
                  <a:pt x="4591728" y="981660"/>
                  <a:pt x="4638407" y="970916"/>
                  <a:pt x="4533900" y="986592"/>
                </a:cubicBezTo>
                <a:cubicBezTo>
                  <a:pt x="4521167" y="988502"/>
                  <a:pt x="4508546" y="991121"/>
                  <a:pt x="4495800" y="992942"/>
                </a:cubicBezTo>
                <a:cubicBezTo>
                  <a:pt x="4478906" y="995355"/>
                  <a:pt x="4461856" y="996630"/>
                  <a:pt x="4445000" y="999292"/>
                </a:cubicBezTo>
                <a:cubicBezTo>
                  <a:pt x="4421625" y="1002983"/>
                  <a:pt x="4398518" y="1008253"/>
                  <a:pt x="4375150" y="1011992"/>
                </a:cubicBezTo>
                <a:cubicBezTo>
                  <a:pt x="4266256" y="1029415"/>
                  <a:pt x="4316654" y="1020098"/>
                  <a:pt x="4229100" y="1031042"/>
                </a:cubicBezTo>
                <a:cubicBezTo>
                  <a:pt x="4214248" y="1032898"/>
                  <a:pt x="4199510" y="1035609"/>
                  <a:pt x="4184650" y="1037392"/>
                </a:cubicBezTo>
                <a:lnTo>
                  <a:pt x="4070350" y="1050092"/>
                </a:lnTo>
                <a:cubicBezTo>
                  <a:pt x="4053397" y="1052048"/>
                  <a:pt x="4036582" y="1055378"/>
                  <a:pt x="4019550" y="1056442"/>
                </a:cubicBezTo>
                <a:cubicBezTo>
                  <a:pt x="3968805" y="1059614"/>
                  <a:pt x="3917991" y="1062260"/>
                  <a:pt x="3867150" y="1062792"/>
                </a:cubicBezTo>
                <a:lnTo>
                  <a:pt x="2806700" y="1069142"/>
                </a:lnTo>
                <a:lnTo>
                  <a:pt x="1517650" y="1081842"/>
                </a:lnTo>
                <a:cubicBezTo>
                  <a:pt x="1457337" y="1093905"/>
                  <a:pt x="1508861" y="1084772"/>
                  <a:pt x="1416050" y="1094542"/>
                </a:cubicBezTo>
                <a:cubicBezTo>
                  <a:pt x="1362618" y="1100166"/>
                  <a:pt x="1302676" y="1111318"/>
                  <a:pt x="1250950" y="1113592"/>
                </a:cubicBezTo>
                <a:cubicBezTo>
                  <a:pt x="1096524" y="1120380"/>
                  <a:pt x="941917" y="1122059"/>
                  <a:pt x="787400" y="1126292"/>
                </a:cubicBezTo>
                <a:cubicBezTo>
                  <a:pt x="757767" y="1130525"/>
                  <a:pt x="728264" y="1135803"/>
                  <a:pt x="698500" y="1138992"/>
                </a:cubicBezTo>
                <a:cubicBezTo>
                  <a:pt x="668960" y="1142157"/>
                  <a:pt x="639079" y="1141657"/>
                  <a:pt x="609600" y="1145342"/>
                </a:cubicBezTo>
                <a:cubicBezTo>
                  <a:pt x="588181" y="1148019"/>
                  <a:pt x="567267" y="1153809"/>
                  <a:pt x="546100" y="1158042"/>
                </a:cubicBezTo>
                <a:cubicBezTo>
                  <a:pt x="524933" y="1162275"/>
                  <a:pt x="504097" y="1168788"/>
                  <a:pt x="482600" y="1170742"/>
                </a:cubicBezTo>
                <a:cubicBezTo>
                  <a:pt x="459317" y="1172859"/>
                  <a:pt x="435986" y="1174510"/>
                  <a:pt x="412750" y="1177092"/>
                </a:cubicBezTo>
                <a:cubicBezTo>
                  <a:pt x="375908" y="1181186"/>
                  <a:pt x="365555" y="1184489"/>
                  <a:pt x="330200" y="1189792"/>
                </a:cubicBezTo>
                <a:lnTo>
                  <a:pt x="241300" y="1202492"/>
                </a:lnTo>
                <a:cubicBezTo>
                  <a:pt x="234950" y="1204609"/>
                  <a:pt x="228237" y="1205849"/>
                  <a:pt x="222250" y="1208842"/>
                </a:cubicBezTo>
                <a:cubicBezTo>
                  <a:pt x="211211" y="1214362"/>
                  <a:pt x="202099" y="1223674"/>
                  <a:pt x="190500" y="1227892"/>
                </a:cubicBezTo>
                <a:cubicBezTo>
                  <a:pt x="178400" y="1232292"/>
                  <a:pt x="165100" y="1232125"/>
                  <a:pt x="152400" y="1234242"/>
                </a:cubicBezTo>
                <a:cubicBezTo>
                  <a:pt x="134227" y="1243329"/>
                  <a:pt x="126637" y="1248620"/>
                  <a:pt x="107950" y="1253292"/>
                </a:cubicBezTo>
                <a:lnTo>
                  <a:pt x="57150" y="1265992"/>
                </a:lnTo>
                <a:cubicBezTo>
                  <a:pt x="45187" y="1277955"/>
                  <a:pt x="32473" y="1288179"/>
                  <a:pt x="25400" y="1304092"/>
                </a:cubicBezTo>
                <a:cubicBezTo>
                  <a:pt x="13328" y="1331255"/>
                  <a:pt x="13738" y="1341733"/>
                  <a:pt x="6350" y="1367592"/>
                </a:cubicBezTo>
                <a:cubicBezTo>
                  <a:pt x="4511" y="1374028"/>
                  <a:pt x="2117" y="1380292"/>
                  <a:pt x="0" y="1386642"/>
                </a:cubicBezTo>
                <a:cubicBezTo>
                  <a:pt x="4233" y="1420509"/>
                  <a:pt x="5669" y="1454844"/>
                  <a:pt x="12700" y="1488242"/>
                </a:cubicBezTo>
                <a:cubicBezTo>
                  <a:pt x="14272" y="1495710"/>
                  <a:pt x="21987" y="1500466"/>
                  <a:pt x="25400" y="1507292"/>
                </a:cubicBezTo>
                <a:cubicBezTo>
                  <a:pt x="33069" y="1522630"/>
                  <a:pt x="29285" y="1533260"/>
                  <a:pt x="44450" y="1545392"/>
                </a:cubicBezTo>
                <a:cubicBezTo>
                  <a:pt x="49677" y="1549573"/>
                  <a:pt x="57150" y="1549625"/>
                  <a:pt x="63500" y="1551742"/>
                </a:cubicBezTo>
                <a:cubicBezTo>
                  <a:pt x="71967" y="1541159"/>
                  <a:pt x="80768" y="1530835"/>
                  <a:pt x="88900" y="1519992"/>
                </a:cubicBezTo>
                <a:cubicBezTo>
                  <a:pt x="93479" y="1513887"/>
                  <a:pt x="101600" y="1500942"/>
                  <a:pt x="101600" y="1500942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215074" y="2928934"/>
            <a:ext cx="2154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*</a:t>
            </a:r>
            <a:r>
              <a:rPr lang="ko-KR" altLang="en-US" sz="1200" dirty="0" smtClean="0"/>
              <a:t>하위  </a:t>
            </a:r>
            <a:r>
              <a:rPr lang="en-US" altLang="ko-KR" sz="1200" dirty="0" smtClean="0"/>
              <a:t>case</a:t>
            </a:r>
            <a:r>
              <a:rPr lang="ko-KR" altLang="en-US" sz="1200" dirty="0" smtClean="0"/>
              <a:t>를 실행하지 않고</a:t>
            </a:r>
            <a:endParaRPr lang="en-US" altLang="ko-KR" sz="1200" dirty="0" smtClean="0"/>
          </a:p>
          <a:p>
            <a:r>
              <a:rPr lang="ko-KR" altLang="en-US" sz="1200" dirty="0" smtClean="0"/>
              <a:t>밖으로 빠져나간다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214282" y="4643446"/>
            <a:ext cx="417992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*</a:t>
            </a:r>
            <a:r>
              <a:rPr lang="en-US" altLang="ko-KR" sz="1600" b="1" dirty="0" err="1" smtClean="0"/>
              <a:t>switch~case</a:t>
            </a:r>
            <a:r>
              <a:rPr lang="ko-KR" altLang="en-US" sz="1600" dirty="0" smtClean="0"/>
              <a:t>로 학점 구하기 </a:t>
            </a:r>
            <a:r>
              <a:rPr lang="en-US" altLang="ko-KR" sz="1600" dirty="0" smtClean="0"/>
              <a:t>( if</a:t>
            </a:r>
            <a:r>
              <a:rPr lang="ko-KR" altLang="en-US" sz="1600" dirty="0" smtClean="0"/>
              <a:t>가 더 적합</a:t>
            </a:r>
            <a:r>
              <a:rPr lang="en-US" altLang="ko-KR" sz="1600" dirty="0" smtClean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 smtClean="0"/>
              <a:t> 90~100 : A</a:t>
            </a:r>
            <a:r>
              <a:rPr lang="ko-KR" altLang="en-US" sz="1600" dirty="0" smtClean="0"/>
              <a:t>학점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80~89 : B</a:t>
            </a:r>
            <a:r>
              <a:rPr lang="ko-KR" altLang="en-US" sz="1600" dirty="0" smtClean="0"/>
              <a:t>학점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70~79 : C</a:t>
            </a:r>
            <a:r>
              <a:rPr lang="ko-KR" altLang="en-US" sz="1600" dirty="0" smtClean="0"/>
              <a:t>학점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60~69 : D</a:t>
            </a:r>
            <a:r>
              <a:rPr lang="ko-KR" altLang="en-US" sz="1600" dirty="0" smtClean="0"/>
              <a:t>학점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0~ 59 : F</a:t>
            </a:r>
            <a:r>
              <a:rPr lang="ko-KR" altLang="en-US" sz="1600" dirty="0" smtClean="0"/>
              <a:t>학점</a:t>
            </a:r>
            <a:endParaRPr lang="ko-KR" altLang="en-US" sz="1600" dirty="0"/>
          </a:p>
        </p:txBody>
      </p:sp>
      <p:cxnSp>
        <p:nvCxnSpPr>
          <p:cNvPr id="11" name="직선 화살표 연결선 10"/>
          <p:cNvCxnSpPr/>
          <p:nvPr/>
        </p:nvCxnSpPr>
        <p:spPr>
          <a:xfrm rot="10800000" flipV="1">
            <a:off x="2143108" y="4500570"/>
            <a:ext cx="785818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000364" y="4286256"/>
            <a:ext cx="49059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s</a:t>
            </a:r>
            <a:r>
              <a:rPr lang="en-US" altLang="ko-KR" sz="1200" dirty="0" err="1" smtClean="0"/>
              <a:t>witch~case</a:t>
            </a:r>
            <a:r>
              <a:rPr lang="ko-KR" altLang="en-US" sz="1200" dirty="0" smtClean="0"/>
              <a:t>는 </a:t>
            </a:r>
            <a:r>
              <a:rPr lang="ko-KR" altLang="en-US" sz="1200" b="1" dirty="0" smtClean="0"/>
              <a:t>범위를 가지고 처리해야하는 작업에는 적합</a:t>
            </a:r>
            <a:r>
              <a:rPr lang="ko-KR" altLang="en-US" sz="1200" dirty="0" smtClean="0"/>
              <a:t>하지 않다</a:t>
            </a:r>
            <a:r>
              <a:rPr lang="en-US" altLang="ko-KR" sz="1200" dirty="0" smtClean="0"/>
              <a:t>.</a:t>
            </a:r>
            <a:endParaRPr lang="ko-KR" altLang="en-US" sz="1200" dirty="0"/>
          </a:p>
        </p:txBody>
      </p:sp>
      <p:cxnSp>
        <p:nvCxnSpPr>
          <p:cNvPr id="17" name="직선 연결선 16"/>
          <p:cNvCxnSpPr/>
          <p:nvPr/>
        </p:nvCxnSpPr>
        <p:spPr>
          <a:xfrm rot="5400000">
            <a:off x="1393009" y="5893611"/>
            <a:ext cx="150019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오른쪽 화살표 17"/>
          <p:cNvSpPr/>
          <p:nvPr/>
        </p:nvSpPr>
        <p:spPr>
          <a:xfrm>
            <a:off x="2071670" y="5429264"/>
            <a:ext cx="285752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2786050" y="5072074"/>
            <a:ext cx="133081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100 =&gt; 10</a:t>
            </a:r>
          </a:p>
          <a:p>
            <a:r>
              <a:rPr lang="en-US" altLang="ko-KR" sz="1600" dirty="0" smtClean="0"/>
              <a:t>90~99 =&gt; 9</a:t>
            </a:r>
          </a:p>
          <a:p>
            <a:r>
              <a:rPr lang="en-US" altLang="ko-KR" sz="1600" dirty="0" smtClean="0"/>
              <a:t>80~89 =&gt; 8</a:t>
            </a:r>
          </a:p>
          <a:p>
            <a:r>
              <a:rPr lang="en-US" altLang="ko-KR" sz="1600" dirty="0" smtClean="0"/>
              <a:t>70~79 =&gt; 7</a:t>
            </a:r>
          </a:p>
          <a:p>
            <a:r>
              <a:rPr lang="en-US" altLang="ko-KR" sz="1600" dirty="0" smtClean="0"/>
              <a:t>60~69 =&gt; 6</a:t>
            </a:r>
          </a:p>
          <a:p>
            <a:r>
              <a:rPr lang="en-US" altLang="ko-KR" sz="1600" dirty="0" smtClean="0"/>
              <a:t>50~59 =&gt; 5</a:t>
            </a:r>
          </a:p>
          <a:p>
            <a:r>
              <a:rPr lang="ko-KR" altLang="en-US" sz="1600" dirty="0" err="1" smtClean="0"/>
              <a:t>그외</a:t>
            </a:r>
            <a:endParaRPr lang="ko-KR" altLang="en-US" sz="1600" dirty="0"/>
          </a:p>
        </p:txBody>
      </p:sp>
      <p:cxnSp>
        <p:nvCxnSpPr>
          <p:cNvPr id="21" name="직선 화살표 연결선 20"/>
          <p:cNvCxnSpPr/>
          <p:nvPr/>
        </p:nvCxnSpPr>
        <p:spPr>
          <a:xfrm rot="10800000" flipV="1">
            <a:off x="4143372" y="5214950"/>
            <a:ext cx="714380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929190" y="5072074"/>
            <a:ext cx="2465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score=100;</a:t>
            </a:r>
          </a:p>
          <a:p>
            <a:r>
              <a:rPr lang="en-US" altLang="ko-KR" sz="1200" dirty="0"/>
              <a:t>s</a:t>
            </a:r>
            <a:r>
              <a:rPr lang="en-US" altLang="ko-KR" sz="1200" dirty="0" smtClean="0"/>
              <a:t>core /10;  // </a:t>
            </a:r>
            <a:r>
              <a:rPr lang="ko-KR" altLang="en-US" sz="1200" dirty="0" smtClean="0"/>
              <a:t>정수 </a:t>
            </a:r>
            <a:r>
              <a:rPr lang="en-US" altLang="ko-KR" sz="1200" dirty="0" smtClean="0"/>
              <a:t>/ </a:t>
            </a:r>
            <a:r>
              <a:rPr lang="ko-KR" altLang="en-US" sz="1200" dirty="0" smtClean="0"/>
              <a:t>정수 </a:t>
            </a:r>
            <a:r>
              <a:rPr lang="en-US" altLang="ko-KR" sz="1200" dirty="0" smtClean="0"/>
              <a:t>= </a:t>
            </a:r>
            <a:r>
              <a:rPr lang="ko-KR" altLang="en-US" sz="1200" dirty="0" smtClean="0"/>
              <a:t>정수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8753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내일 </a:t>
            </a:r>
            <a:r>
              <a:rPr lang="en-US" altLang="ko-KR" dirty="0" smtClean="0"/>
              <a:t>: for, while, </a:t>
            </a:r>
            <a:r>
              <a:rPr lang="en-US" altLang="ko-KR" dirty="0" err="1" smtClean="0"/>
              <a:t>do~while</a:t>
            </a:r>
            <a:r>
              <a:rPr lang="en-US" altLang="ko-KR" dirty="0" smtClean="0"/>
              <a:t>, break, continue, </a:t>
            </a:r>
            <a:r>
              <a:rPr lang="ko-KR" altLang="en-US" dirty="0" smtClean="0"/>
              <a:t>변수</a:t>
            </a:r>
            <a:r>
              <a:rPr lang="en-US" altLang="ko-KR" dirty="0" smtClean="0"/>
              <a:t>,</a:t>
            </a:r>
            <a:r>
              <a:rPr lang="en-US" altLang="ko-KR" dirty="0"/>
              <a:t> </a:t>
            </a:r>
            <a:r>
              <a:rPr lang="en-US" altLang="ko-KR" dirty="0" smtClean="0"/>
              <a:t>instance variable, static variable</a:t>
            </a: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9408345" cy="6771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r>
              <a:rPr lang="ko-KR" altLang="en-US" dirty="0" smtClean="0"/>
              <a:t>문제</a:t>
            </a:r>
            <a:r>
              <a:rPr lang="en-US" altLang="ko-KR" dirty="0" smtClean="0"/>
              <a:t>.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-</a:t>
            </a:r>
            <a:r>
              <a:rPr lang="ko-KR" altLang="en-US" sz="1600" dirty="0" smtClean="0"/>
              <a:t>제시된 </a:t>
            </a:r>
            <a:r>
              <a:rPr lang="ko-KR" altLang="en-US" sz="1600" dirty="0" err="1" smtClean="0"/>
              <a:t>요금표를</a:t>
            </a:r>
            <a:r>
              <a:rPr lang="ko-KR" altLang="en-US" sz="1600" dirty="0" smtClean="0"/>
              <a:t> 사용하여 콘솔에 출력하는 코드를 작성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 smtClean="0"/>
              <a:t> -</a:t>
            </a:r>
            <a:r>
              <a:rPr lang="ko-KR" altLang="en-US" sz="1600" b="1" dirty="0" smtClean="0"/>
              <a:t>대중교통수단</a:t>
            </a:r>
            <a:r>
              <a:rPr lang="ko-KR" altLang="en-US" sz="1600" dirty="0" smtClean="0"/>
              <a:t>과 </a:t>
            </a:r>
            <a:r>
              <a:rPr lang="ko-KR" altLang="en-US" sz="1600" b="1" dirty="0" smtClean="0"/>
              <a:t>이동거리</a:t>
            </a:r>
            <a:r>
              <a:rPr lang="ko-KR" altLang="en-US" sz="1600" dirty="0" smtClean="0"/>
              <a:t>를 </a:t>
            </a:r>
            <a:r>
              <a:rPr lang="en-US" altLang="ko-KR" sz="1600" dirty="0" smtClean="0"/>
              <a:t>main method</a:t>
            </a:r>
            <a:r>
              <a:rPr lang="ko-KR" altLang="en-US" sz="1600" dirty="0"/>
              <a:t> </a:t>
            </a:r>
            <a:r>
              <a:rPr lang="en-US" altLang="ko-KR" sz="1600" dirty="0" smtClean="0"/>
              <a:t>arguments</a:t>
            </a:r>
            <a:r>
              <a:rPr lang="ko-KR" altLang="en-US" sz="1600" dirty="0" smtClean="0"/>
              <a:t>로 </a:t>
            </a:r>
            <a:r>
              <a:rPr lang="ko-KR" altLang="en-US" sz="1600" dirty="0" err="1" smtClean="0"/>
              <a:t>입력받아</a:t>
            </a:r>
            <a:r>
              <a:rPr lang="ko-KR" altLang="en-US" sz="1600" dirty="0" smtClean="0"/>
              <a:t> 처리하는 프로그램 제작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 - </a:t>
            </a:r>
            <a:r>
              <a:rPr lang="ko-KR" altLang="en-US" sz="1600" dirty="0" smtClean="0"/>
              <a:t>제약사항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입력한  대중 교통수단이 </a:t>
            </a:r>
            <a:r>
              <a:rPr lang="en-US" altLang="ko-KR" sz="1600" dirty="0" smtClean="0"/>
              <a:t>“</a:t>
            </a:r>
            <a:r>
              <a:rPr lang="ko-KR" altLang="en-US" sz="1600" dirty="0" smtClean="0"/>
              <a:t>마을버스</a:t>
            </a:r>
            <a:r>
              <a:rPr lang="en-US" altLang="ko-KR" sz="1600" dirty="0" smtClean="0"/>
              <a:t>”, ”</a:t>
            </a:r>
            <a:r>
              <a:rPr lang="ko-KR" altLang="en-US" sz="1600" dirty="0" smtClean="0"/>
              <a:t>버스</a:t>
            </a:r>
            <a:r>
              <a:rPr lang="en-US" altLang="ko-KR" sz="1600" dirty="0" smtClean="0"/>
              <a:t>”, “</a:t>
            </a:r>
            <a:r>
              <a:rPr lang="ko-KR" altLang="en-US" sz="1600" dirty="0" smtClean="0"/>
              <a:t>지하철</a:t>
            </a:r>
            <a:r>
              <a:rPr lang="en-US" altLang="ko-KR" sz="1600" dirty="0" smtClean="0"/>
              <a:t>” </a:t>
            </a:r>
            <a:r>
              <a:rPr lang="ko-KR" altLang="en-US" sz="1600" dirty="0" smtClean="0"/>
              <a:t>인 </a:t>
            </a:r>
            <a:r>
              <a:rPr lang="ko-KR" altLang="en-US" sz="1600" b="1" dirty="0" smtClean="0"/>
              <a:t>경우에만</a:t>
            </a:r>
            <a:r>
              <a:rPr lang="ko-KR" altLang="en-US" sz="1600" dirty="0" smtClean="0"/>
              <a:t> 아래의 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smtClean="0"/>
              <a:t>출력형식으로 출력하고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그렇지 않다면 </a:t>
            </a:r>
            <a:r>
              <a:rPr lang="en-US" altLang="ko-KR" sz="1600" dirty="0" smtClean="0"/>
              <a:t>“</a:t>
            </a:r>
            <a:r>
              <a:rPr lang="ko-KR" altLang="en-US" sz="1600" dirty="0" smtClean="0"/>
              <a:t>대중교통수단이 아닙니다</a:t>
            </a:r>
            <a:r>
              <a:rPr lang="en-US" altLang="ko-KR" sz="1600" dirty="0" smtClean="0"/>
              <a:t>.”</a:t>
            </a:r>
            <a:r>
              <a:rPr lang="ko-KR" altLang="en-US" sz="1600" dirty="0" smtClean="0"/>
              <a:t>를 출력</a:t>
            </a:r>
            <a:endParaRPr lang="en-US" altLang="ko-KR" sz="1600" dirty="0" smtClean="0"/>
          </a:p>
          <a:p>
            <a:endParaRPr lang="en-US" altLang="ko-KR" sz="1600" dirty="0"/>
          </a:p>
          <a:p>
            <a:r>
              <a:rPr lang="ko-KR" altLang="en-US" sz="1600" dirty="0" smtClean="0"/>
              <a:t>출력형식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smtClean="0"/>
              <a:t>입력하신 교통수단은 </a:t>
            </a:r>
            <a:r>
              <a:rPr lang="en-US" altLang="ko-KR" sz="1600" dirty="0" smtClean="0"/>
              <a:t>[ </a:t>
            </a:r>
            <a:r>
              <a:rPr lang="en-US" altLang="ko-KR" sz="1600" b="1" dirty="0" smtClean="0"/>
              <a:t>XX</a:t>
            </a:r>
            <a:r>
              <a:rPr lang="en-US" altLang="ko-KR" sz="1600" dirty="0" smtClean="0"/>
              <a:t> ] </a:t>
            </a:r>
            <a:r>
              <a:rPr lang="ko-KR" altLang="en-US" sz="1600" dirty="0" smtClean="0"/>
              <a:t>이고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이동거리는 </a:t>
            </a:r>
            <a:r>
              <a:rPr lang="en-US" altLang="ko-KR" sz="1600" dirty="0" smtClean="0"/>
              <a:t>[ </a:t>
            </a:r>
            <a:r>
              <a:rPr lang="en-US" altLang="ko-KR" sz="1600" b="1" dirty="0" smtClean="0"/>
              <a:t>XX</a:t>
            </a:r>
            <a:r>
              <a:rPr lang="en-US" altLang="ko-KR" sz="1600" dirty="0" smtClean="0"/>
              <a:t> ]km </a:t>
            </a:r>
            <a:r>
              <a:rPr lang="ko-KR" altLang="en-US" sz="1600" dirty="0" smtClean="0"/>
              <a:t>입니다</a:t>
            </a:r>
            <a:r>
              <a:rPr lang="en-US" altLang="ko-KR" sz="1600" dirty="0" smtClean="0"/>
              <a:t>. 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smtClean="0"/>
              <a:t>교통수단의 기본 요금 </a:t>
            </a:r>
            <a:r>
              <a:rPr lang="en-US" altLang="ko-KR" sz="1600" dirty="0" smtClean="0"/>
              <a:t>: [ </a:t>
            </a:r>
            <a:r>
              <a:rPr lang="en-US" altLang="ko-KR" sz="1600" b="1" dirty="0" smtClean="0"/>
              <a:t>XX</a:t>
            </a:r>
            <a:r>
              <a:rPr lang="en-US" altLang="ko-KR" sz="1600" dirty="0" smtClean="0"/>
              <a:t> ]</a:t>
            </a:r>
            <a:r>
              <a:rPr lang="ko-KR" altLang="en-US" sz="1600" dirty="0" smtClean="0"/>
              <a:t>원</a:t>
            </a:r>
            <a:endParaRPr lang="en-US" altLang="ko-KR" sz="1600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smtClean="0"/>
              <a:t>편도요금 </a:t>
            </a:r>
            <a:r>
              <a:rPr lang="en-US" altLang="ko-KR" sz="1600" dirty="0" smtClean="0"/>
              <a:t>: [ </a:t>
            </a:r>
            <a:r>
              <a:rPr lang="en-US" altLang="ko-KR" sz="1600" b="1" dirty="0" smtClean="0"/>
              <a:t>XX</a:t>
            </a:r>
            <a:r>
              <a:rPr lang="en-US" altLang="ko-KR" sz="1600" dirty="0" smtClean="0"/>
              <a:t> ]</a:t>
            </a:r>
            <a:r>
              <a:rPr lang="ko-KR" altLang="en-US" sz="1600" dirty="0" smtClean="0"/>
              <a:t>원</a:t>
            </a:r>
            <a:r>
              <a:rPr lang="en-US" altLang="ko-KR" sz="1600" dirty="0" smtClean="0"/>
              <a:t>. (  </a:t>
            </a:r>
            <a:r>
              <a:rPr lang="ko-KR" altLang="en-US" sz="1600" dirty="0" smtClean="0"/>
              <a:t>이동거리가 </a:t>
            </a:r>
            <a:r>
              <a:rPr lang="en-US" altLang="ko-KR" sz="1600" dirty="0" smtClean="0"/>
              <a:t>10km</a:t>
            </a:r>
            <a:r>
              <a:rPr lang="ko-KR" altLang="en-US" sz="1600" dirty="0" smtClean="0"/>
              <a:t>를 초과한 경우 </a:t>
            </a:r>
            <a:r>
              <a:rPr lang="en-US" altLang="ko-KR" sz="1600" dirty="0"/>
              <a:t>:</a:t>
            </a:r>
            <a:r>
              <a:rPr lang="ko-KR" altLang="en-US" sz="1600" dirty="0" smtClean="0"/>
              <a:t>기본 요금 </a:t>
            </a:r>
            <a:r>
              <a:rPr lang="en-US" altLang="ko-KR" sz="1600" dirty="0" smtClean="0"/>
              <a:t>+ 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연산하여 구해진 추가요금 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smtClean="0"/>
              <a:t>왕복요금 </a:t>
            </a:r>
            <a:r>
              <a:rPr lang="en-US" altLang="ko-KR" sz="1600" dirty="0" smtClean="0"/>
              <a:t>: [ </a:t>
            </a:r>
            <a:r>
              <a:rPr lang="en-US" altLang="ko-KR" sz="1600" b="1" dirty="0" smtClean="0"/>
              <a:t>XX</a:t>
            </a:r>
            <a:r>
              <a:rPr lang="en-US" altLang="ko-KR" sz="1600" dirty="0" smtClean="0"/>
              <a:t> ]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원</a:t>
            </a:r>
            <a:r>
              <a:rPr lang="en-US" altLang="ko-KR" sz="1600" dirty="0" smtClean="0"/>
              <a:t>.</a:t>
            </a:r>
          </a:p>
          <a:p>
            <a:r>
              <a:rPr lang="en-US" altLang="ko-KR" sz="1600" dirty="0"/>
              <a:t>  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한달 </a:t>
            </a:r>
            <a:r>
              <a:rPr lang="en-US" altLang="ko-KR" sz="1600" b="1" dirty="0" smtClean="0"/>
              <a:t>20</a:t>
            </a:r>
            <a:r>
              <a:rPr lang="ko-KR" altLang="en-US" sz="1600" dirty="0" smtClean="0"/>
              <a:t>일 기준 총 교통 요금 </a:t>
            </a:r>
            <a:r>
              <a:rPr lang="en-US" altLang="ko-KR" sz="1600" dirty="0" smtClean="0"/>
              <a:t>[ </a:t>
            </a:r>
            <a:r>
              <a:rPr lang="en-US" altLang="ko-KR" sz="1600" b="1" dirty="0" smtClean="0"/>
              <a:t>xx </a:t>
            </a:r>
            <a:r>
              <a:rPr lang="en-US" altLang="ko-KR" sz="1600" dirty="0" smtClean="0"/>
              <a:t>]</a:t>
            </a:r>
            <a:r>
              <a:rPr lang="ko-KR" altLang="en-US" sz="1600" dirty="0" smtClean="0"/>
              <a:t>원 입니다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/>
          </a:p>
          <a:p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*</a:t>
            </a:r>
            <a:r>
              <a:rPr lang="ko-KR" altLang="en-US" sz="1600" b="1" dirty="0" smtClean="0"/>
              <a:t>기본요금은 </a:t>
            </a:r>
            <a:r>
              <a:rPr lang="en-US" altLang="ko-KR" sz="1600" b="1" dirty="0"/>
              <a:t>10km</a:t>
            </a:r>
            <a:r>
              <a:rPr lang="ko-KR" altLang="en-US" sz="1600" b="1" dirty="0"/>
              <a:t>까지 무료이며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초과 시 </a:t>
            </a:r>
            <a:r>
              <a:rPr lang="en-US" altLang="ko-KR" sz="1600" b="1" dirty="0"/>
              <a:t>5km</a:t>
            </a:r>
            <a:r>
              <a:rPr lang="ko-KR" altLang="en-US" sz="1600" b="1" dirty="0"/>
              <a:t>마다 </a:t>
            </a:r>
            <a:r>
              <a:rPr lang="en-US" altLang="ko-KR" sz="1600" b="1" dirty="0"/>
              <a:t>100</a:t>
            </a:r>
            <a:r>
              <a:rPr lang="ko-KR" altLang="en-US" sz="1600" b="1" dirty="0"/>
              <a:t>원씩 추가 요금이 </a:t>
            </a:r>
            <a:r>
              <a:rPr lang="ko-KR" altLang="en-US" sz="1600" b="1" dirty="0" smtClean="0"/>
              <a:t>발생</a:t>
            </a:r>
            <a:endParaRPr lang="en-US" altLang="ko-KR" sz="1600" b="1" dirty="0" smtClean="0"/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11~15 : 100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16~20 : 200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21~25 : 300</a:t>
            </a:r>
            <a:endParaRPr lang="en-US" altLang="ko-KR" sz="1600" dirty="0"/>
          </a:p>
          <a:p>
            <a:endParaRPr lang="ko-KR" altLang="en-US" sz="160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85720" y="1285860"/>
          <a:ext cx="228601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434"/>
                <a:gridCol w="1469582"/>
              </a:tblGrid>
              <a:tr h="13144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교통수단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기본요금</a:t>
                      </a:r>
                      <a:endParaRPr lang="ko-KR" altLang="en-US" sz="1200" dirty="0"/>
                    </a:p>
                  </a:txBody>
                  <a:tcPr/>
                </a:tc>
              </a:tr>
              <a:tr h="2043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마을버스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1200</a:t>
                      </a:r>
                      <a:endParaRPr lang="ko-KR" altLang="en-US" sz="1200" dirty="0"/>
                    </a:p>
                  </a:txBody>
                  <a:tcPr/>
                </a:tc>
              </a:tr>
              <a:tr h="2043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버스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1500</a:t>
                      </a:r>
                      <a:endParaRPr lang="ko-KR" altLang="en-US" sz="1200" dirty="0"/>
                    </a:p>
                  </a:txBody>
                  <a:tcPr/>
                </a:tc>
              </a:tr>
              <a:tr h="2043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/>
                        <a:t>지하철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/>
                        <a:t>1550</a:t>
                      </a:r>
                      <a:endParaRPr lang="ko-KR" altLang="en-US" sz="12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직선 화살표 연결선 5"/>
          <p:cNvCxnSpPr/>
          <p:nvPr/>
        </p:nvCxnSpPr>
        <p:spPr>
          <a:xfrm rot="10800000">
            <a:off x="2285984" y="1500174"/>
            <a:ext cx="1000132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57554" y="1571612"/>
            <a:ext cx="28729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자주 변경되지 않는 기준 값 </a:t>
            </a:r>
            <a:r>
              <a:rPr lang="en-US" altLang="ko-KR" sz="1200" b="1" dirty="0" smtClean="0"/>
              <a:t>: constant</a:t>
            </a:r>
            <a:endParaRPr lang="ko-KR" altLang="en-US" sz="1200" b="1" dirty="0"/>
          </a:p>
        </p:txBody>
      </p:sp>
      <p:cxnSp>
        <p:nvCxnSpPr>
          <p:cNvPr id="10" name="직선 화살표 연결선 9"/>
          <p:cNvCxnSpPr/>
          <p:nvPr/>
        </p:nvCxnSpPr>
        <p:spPr>
          <a:xfrm rot="5400000">
            <a:off x="714348" y="3214686"/>
            <a:ext cx="357190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rot="16200000" flipH="1">
            <a:off x="500034" y="1500174"/>
            <a:ext cx="2714644" cy="17145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rot="16200000" flipH="1">
            <a:off x="2285984" y="1142984"/>
            <a:ext cx="2714644" cy="24288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rot="16200000" flipH="1">
            <a:off x="1000100" y="2357430"/>
            <a:ext cx="2000264" cy="14287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 rot="10800000">
            <a:off x="1857356" y="4357694"/>
            <a:ext cx="3286148" cy="13573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자유형 20"/>
          <p:cNvSpPr/>
          <p:nvPr/>
        </p:nvSpPr>
        <p:spPr>
          <a:xfrm>
            <a:off x="736600" y="6648450"/>
            <a:ext cx="82550" cy="226451"/>
          </a:xfrm>
          <a:custGeom>
            <a:avLst/>
            <a:gdLst>
              <a:gd name="connsiteX0" fmla="*/ 82550 w 82550"/>
              <a:gd name="connsiteY0" fmla="*/ 0 h 226451"/>
              <a:gd name="connsiteX1" fmla="*/ 38100 w 82550"/>
              <a:gd name="connsiteY1" fmla="*/ 6350 h 226451"/>
              <a:gd name="connsiteX2" fmla="*/ 19050 w 82550"/>
              <a:gd name="connsiteY2" fmla="*/ 12700 h 226451"/>
              <a:gd name="connsiteX3" fmla="*/ 6350 w 82550"/>
              <a:gd name="connsiteY3" fmla="*/ 31750 h 226451"/>
              <a:gd name="connsiteX4" fmla="*/ 0 w 82550"/>
              <a:gd name="connsiteY4" fmla="*/ 50800 h 226451"/>
              <a:gd name="connsiteX5" fmla="*/ 31750 w 82550"/>
              <a:gd name="connsiteY5" fmla="*/ 114300 h 226451"/>
              <a:gd name="connsiteX6" fmla="*/ 31750 w 82550"/>
              <a:gd name="connsiteY6" fmla="*/ 114300 h 226451"/>
              <a:gd name="connsiteX7" fmla="*/ 38100 w 82550"/>
              <a:gd name="connsiteY7" fmla="*/ 133350 h 226451"/>
              <a:gd name="connsiteX8" fmla="*/ 57150 w 82550"/>
              <a:gd name="connsiteY8" fmla="*/ 171450 h 226451"/>
              <a:gd name="connsiteX9" fmla="*/ 63500 w 82550"/>
              <a:gd name="connsiteY9" fmla="*/ 222250 h 22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550" h="226451">
                <a:moveTo>
                  <a:pt x="82550" y="0"/>
                </a:moveTo>
                <a:cubicBezTo>
                  <a:pt x="67733" y="2117"/>
                  <a:pt x="52776" y="3415"/>
                  <a:pt x="38100" y="6350"/>
                </a:cubicBezTo>
                <a:cubicBezTo>
                  <a:pt x="31536" y="7663"/>
                  <a:pt x="24277" y="8519"/>
                  <a:pt x="19050" y="12700"/>
                </a:cubicBezTo>
                <a:cubicBezTo>
                  <a:pt x="13091" y="17468"/>
                  <a:pt x="9763" y="24924"/>
                  <a:pt x="6350" y="31750"/>
                </a:cubicBezTo>
                <a:cubicBezTo>
                  <a:pt x="3357" y="37737"/>
                  <a:pt x="2117" y="44450"/>
                  <a:pt x="0" y="50800"/>
                </a:cubicBezTo>
                <a:cubicBezTo>
                  <a:pt x="10052" y="91008"/>
                  <a:pt x="1509" y="68938"/>
                  <a:pt x="31750" y="114300"/>
                </a:cubicBezTo>
                <a:lnTo>
                  <a:pt x="31750" y="114300"/>
                </a:lnTo>
                <a:cubicBezTo>
                  <a:pt x="33867" y="120650"/>
                  <a:pt x="35107" y="127363"/>
                  <a:pt x="38100" y="133350"/>
                </a:cubicBezTo>
                <a:cubicBezTo>
                  <a:pt x="62719" y="182589"/>
                  <a:pt x="41189" y="123567"/>
                  <a:pt x="57150" y="171450"/>
                </a:cubicBezTo>
                <a:cubicBezTo>
                  <a:pt x="50275" y="226451"/>
                  <a:pt x="33735" y="222250"/>
                  <a:pt x="63500" y="22225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오른쪽 중괄호 21"/>
          <p:cNvSpPr/>
          <p:nvPr/>
        </p:nvSpPr>
        <p:spPr>
          <a:xfrm>
            <a:off x="1714480" y="5929330"/>
            <a:ext cx="71438" cy="78581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857356" y="614364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연산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21429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1112</Words>
  <Application>Microsoft Office PowerPoint</Application>
  <PresentationFormat>화면 슬라이드 쇼(4:3)</PresentationFormat>
  <Paragraphs>232</Paragraphs>
  <Slides>19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57</cp:revision>
  <dcterms:created xsi:type="dcterms:W3CDTF">2025-08-10T23:47:43Z</dcterms:created>
  <dcterms:modified xsi:type="dcterms:W3CDTF">2025-08-12T00:24:03Z</dcterms:modified>
</cp:coreProperties>
</file>